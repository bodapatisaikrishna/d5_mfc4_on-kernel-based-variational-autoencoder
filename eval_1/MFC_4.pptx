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Londrina Solid Heavy" charset="1" panose="00000A00000000000000"/>
      <p:regular r:id="rId35"/>
    </p:embeddedFont>
    <p:embeddedFont>
      <p:font typeface="Londrina Solid" charset="1" panose="00000500000000000000"/>
      <p:regular r:id="rId36"/>
    </p:embeddedFont>
    <p:embeddedFont>
      <p:font typeface="Cloud" charset="1" panose="02000000000000000000"/>
      <p:regular r:id="rId37"/>
    </p:embeddedFont>
    <p:embeddedFont>
      <p:font typeface="Canva Sans Bold" charset="1" panose="020B0803030501040103"/>
      <p:regular r:id="rId38"/>
    </p:embeddedFont>
    <p:embeddedFont>
      <p:font typeface="Canva Sans" charset="1" panose="020B0503030501040103"/>
      <p:regular r:id="rId39"/>
    </p:embeddedFont>
    <p:embeddedFont>
      <p:font typeface="Canva Sans Medium" charset="1" panose="020B0603030501040103"/>
      <p:regular r:id="rId40"/>
    </p:embeddedFont>
    <p:embeddedFont>
      <p:font typeface="Canva Sans Bold Italics" charset="1" panose="020B0803030501040103"/>
      <p:regular r:id="rId41"/>
    </p:embeddedFont>
    <p:embeddedFont>
      <p:font typeface="Aileron Bold" charset="1" panose="00000800000000000000"/>
      <p:regular r:id="rId42"/>
    </p:embeddedFont>
    <p:embeddedFont>
      <p:font typeface="Aileron" charset="1" panose="00000500000000000000"/>
      <p:regular r:id="rId43"/>
    </p:embeddedFont>
    <p:embeddedFont>
      <p:font typeface="Arimo" charset="1" panose="020B0604020202020204"/>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25.gif"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 Id="rId4" Target="../media/image30.png" Type="http://schemas.openxmlformats.org/officeDocument/2006/relationships/image"/><Relationship Id="rId5" Target="../media/image3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pn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png" Type="http://schemas.openxmlformats.org/officeDocument/2006/relationships/image"/><Relationship Id="rId4" Target="../media/image25.gif" Type="http://schemas.openxmlformats.org/officeDocument/2006/relationships/image"/><Relationship Id="rId5" Target="../media/image4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25.gif" Type="http://schemas.openxmlformats.org/officeDocument/2006/relationships/image"/><Relationship Id="rId4" Target="../media/image42.png" Type="http://schemas.openxmlformats.org/officeDocument/2006/relationships/image"/><Relationship Id="rId5" Target="../media/image4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png" Type="http://schemas.openxmlformats.org/officeDocument/2006/relationships/image"/><Relationship Id="rId4" Target="../media/image4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 Id="rId3" Target="../media/image5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55.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 Id="rId3" Target="../media/image57.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4.png" Type="http://schemas.openxmlformats.org/officeDocument/2006/relationships/image"/><Relationship Id="rId11" Target="../media/image65.svg" Type="http://schemas.openxmlformats.org/officeDocument/2006/relationships/image"/><Relationship Id="rId12" Target="../media/image66.png" Type="http://schemas.openxmlformats.org/officeDocument/2006/relationships/image"/><Relationship Id="rId13" Target="../media/image67.svg" Type="http://schemas.openxmlformats.org/officeDocument/2006/relationships/image"/><Relationship Id="rId14" Target="../media/image68.png" Type="http://schemas.openxmlformats.org/officeDocument/2006/relationships/image"/><Relationship Id="rId15" Target="../media/image69.svg" Type="http://schemas.openxmlformats.org/officeDocument/2006/relationships/image"/><Relationship Id="rId16" Target="../media/image70.png" Type="http://schemas.openxmlformats.org/officeDocument/2006/relationships/image"/><Relationship Id="rId17" Target="../media/image71.svg" Type="http://schemas.openxmlformats.org/officeDocument/2006/relationships/image"/><Relationship Id="rId18" Target="../media/image72.png" Type="http://schemas.openxmlformats.org/officeDocument/2006/relationships/image"/><Relationship Id="rId19" Target="../media/image73.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58.png" Type="http://schemas.openxmlformats.org/officeDocument/2006/relationships/image"/><Relationship Id="rId5" Target="../media/image59.svg" Type="http://schemas.openxmlformats.org/officeDocument/2006/relationships/image"/><Relationship Id="rId6" Target="../media/image60.png" Type="http://schemas.openxmlformats.org/officeDocument/2006/relationships/image"/><Relationship Id="rId7" Target="../media/image61.svg" Type="http://schemas.openxmlformats.org/officeDocument/2006/relationships/image"/><Relationship Id="rId8" Target="../media/image62.png" Type="http://schemas.openxmlformats.org/officeDocument/2006/relationships/image"/><Relationship Id="rId9" Target="../media/image6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FA351"/>
        </a:solidFill>
      </p:bgPr>
    </p:bg>
    <p:spTree>
      <p:nvGrpSpPr>
        <p:cNvPr id="1" name=""/>
        <p:cNvGrpSpPr/>
        <p:nvPr/>
      </p:nvGrpSpPr>
      <p:grpSpPr>
        <a:xfrm>
          <a:off x="0" y="0"/>
          <a:ext cx="0" cy="0"/>
          <a:chOff x="0" y="0"/>
          <a:chExt cx="0" cy="0"/>
        </a:xfrm>
      </p:grpSpPr>
      <p:sp>
        <p:nvSpPr>
          <p:cNvPr name="Freeform 2" id="2"/>
          <p:cNvSpPr/>
          <p:nvPr/>
        </p:nvSpPr>
        <p:spPr>
          <a:xfrm flipH="false" flipV="false" rot="0">
            <a:off x="165607" y="-979412"/>
            <a:ext cx="16140117" cy="13146859"/>
          </a:xfrm>
          <a:custGeom>
            <a:avLst/>
            <a:gdLst/>
            <a:ahLst/>
            <a:cxnLst/>
            <a:rect r="r" b="b" t="t" l="l"/>
            <a:pathLst>
              <a:path h="13146859" w="16140117">
                <a:moveTo>
                  <a:pt x="0" y="0"/>
                </a:moveTo>
                <a:lnTo>
                  <a:pt x="16140116" y="0"/>
                </a:lnTo>
                <a:lnTo>
                  <a:pt x="16140116" y="13146859"/>
                </a:lnTo>
                <a:lnTo>
                  <a:pt x="0" y="13146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02335">
            <a:off x="15909047" y="5460206"/>
            <a:ext cx="2560808" cy="4572872"/>
          </a:xfrm>
          <a:custGeom>
            <a:avLst/>
            <a:gdLst/>
            <a:ahLst/>
            <a:cxnLst/>
            <a:rect r="r" b="b" t="t" l="l"/>
            <a:pathLst>
              <a:path h="4572872" w="2560808">
                <a:moveTo>
                  <a:pt x="0" y="0"/>
                </a:moveTo>
                <a:lnTo>
                  <a:pt x="2560808" y="0"/>
                </a:lnTo>
                <a:lnTo>
                  <a:pt x="2560808" y="4572872"/>
                </a:lnTo>
                <a:lnTo>
                  <a:pt x="0" y="4572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04811">
            <a:off x="3548685" y="-300420"/>
            <a:ext cx="1166544" cy="1683988"/>
          </a:xfrm>
          <a:custGeom>
            <a:avLst/>
            <a:gdLst/>
            <a:ahLst/>
            <a:cxnLst/>
            <a:rect r="r" b="b" t="t" l="l"/>
            <a:pathLst>
              <a:path h="1683988" w="1166544">
                <a:moveTo>
                  <a:pt x="0" y="0"/>
                </a:moveTo>
                <a:lnTo>
                  <a:pt x="1166544" y="0"/>
                </a:lnTo>
                <a:lnTo>
                  <a:pt x="1166544" y="1683988"/>
                </a:lnTo>
                <a:lnTo>
                  <a:pt x="0" y="1683988"/>
                </a:lnTo>
                <a:lnTo>
                  <a:pt x="0" y="0"/>
                </a:lnTo>
                <a:close/>
              </a:path>
            </a:pathLst>
          </a:custGeom>
          <a:blipFill>
            <a:blip r:embed="rId6">
              <a:alphaModFix amt="56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046187">
            <a:off x="703133" y="6303472"/>
            <a:ext cx="1236960" cy="1659336"/>
          </a:xfrm>
          <a:custGeom>
            <a:avLst/>
            <a:gdLst/>
            <a:ahLst/>
            <a:cxnLst/>
            <a:rect r="r" b="b" t="t" l="l"/>
            <a:pathLst>
              <a:path h="1659336" w="1236960">
                <a:moveTo>
                  <a:pt x="0" y="0"/>
                </a:moveTo>
                <a:lnTo>
                  <a:pt x="1236960" y="0"/>
                </a:lnTo>
                <a:lnTo>
                  <a:pt x="1236960" y="1659336"/>
                </a:lnTo>
                <a:lnTo>
                  <a:pt x="0" y="1659336"/>
                </a:lnTo>
                <a:lnTo>
                  <a:pt x="0" y="0"/>
                </a:lnTo>
                <a:close/>
              </a:path>
            </a:pathLst>
          </a:custGeom>
          <a:blipFill>
            <a:blip r:embed="rId8">
              <a:alphaModFix amt="64000"/>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371694">
            <a:off x="1963182" y="8539114"/>
            <a:ext cx="1631143" cy="1438372"/>
          </a:xfrm>
          <a:custGeom>
            <a:avLst/>
            <a:gdLst/>
            <a:ahLst/>
            <a:cxnLst/>
            <a:rect r="r" b="b" t="t" l="l"/>
            <a:pathLst>
              <a:path h="1438372" w="1631143">
                <a:moveTo>
                  <a:pt x="0" y="0"/>
                </a:moveTo>
                <a:lnTo>
                  <a:pt x="1631143" y="0"/>
                </a:lnTo>
                <a:lnTo>
                  <a:pt x="1631143" y="1438372"/>
                </a:lnTo>
                <a:lnTo>
                  <a:pt x="0" y="14383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1040274">
            <a:off x="722235" y="1436483"/>
            <a:ext cx="1747604" cy="1753982"/>
          </a:xfrm>
          <a:custGeom>
            <a:avLst/>
            <a:gdLst/>
            <a:ahLst/>
            <a:cxnLst/>
            <a:rect r="r" b="b" t="t" l="l"/>
            <a:pathLst>
              <a:path h="1753982" w="1747604">
                <a:moveTo>
                  <a:pt x="0" y="0"/>
                </a:moveTo>
                <a:lnTo>
                  <a:pt x="1747604" y="0"/>
                </a:lnTo>
                <a:lnTo>
                  <a:pt x="1747604" y="1753982"/>
                </a:lnTo>
                <a:lnTo>
                  <a:pt x="0" y="175398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644075">
            <a:off x="15165725" y="886475"/>
            <a:ext cx="1923313" cy="1258896"/>
          </a:xfrm>
          <a:custGeom>
            <a:avLst/>
            <a:gdLst/>
            <a:ahLst/>
            <a:cxnLst/>
            <a:rect r="r" b="b" t="t" l="l"/>
            <a:pathLst>
              <a:path h="1258896" w="1923313">
                <a:moveTo>
                  <a:pt x="0" y="0"/>
                </a:moveTo>
                <a:lnTo>
                  <a:pt x="1923313" y="0"/>
                </a:lnTo>
                <a:lnTo>
                  <a:pt x="1923313" y="1258896"/>
                </a:lnTo>
                <a:lnTo>
                  <a:pt x="0" y="125889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899757">
            <a:off x="16703202" y="3606210"/>
            <a:ext cx="1112196" cy="1605533"/>
          </a:xfrm>
          <a:custGeom>
            <a:avLst/>
            <a:gdLst/>
            <a:ahLst/>
            <a:cxnLst/>
            <a:rect r="r" b="b" t="t" l="l"/>
            <a:pathLst>
              <a:path h="1605533" w="1112196">
                <a:moveTo>
                  <a:pt x="0" y="0"/>
                </a:moveTo>
                <a:lnTo>
                  <a:pt x="1112196" y="0"/>
                </a:lnTo>
                <a:lnTo>
                  <a:pt x="1112196" y="1605532"/>
                </a:lnTo>
                <a:lnTo>
                  <a:pt x="0" y="1605532"/>
                </a:lnTo>
                <a:lnTo>
                  <a:pt x="0" y="0"/>
                </a:lnTo>
                <a:close/>
              </a:path>
            </a:pathLst>
          </a:custGeom>
          <a:blipFill>
            <a:blip r:embed="rId16">
              <a:alphaModFix amt="64000"/>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6274432" y="438402"/>
            <a:ext cx="5739135" cy="2155041"/>
          </a:xfrm>
          <a:custGeom>
            <a:avLst/>
            <a:gdLst/>
            <a:ahLst/>
            <a:cxnLst/>
            <a:rect r="r" b="b" t="t" l="l"/>
            <a:pathLst>
              <a:path h="2155041" w="5739135">
                <a:moveTo>
                  <a:pt x="0" y="0"/>
                </a:moveTo>
                <a:lnTo>
                  <a:pt x="5739136" y="0"/>
                </a:lnTo>
                <a:lnTo>
                  <a:pt x="5739136" y="2155042"/>
                </a:lnTo>
                <a:lnTo>
                  <a:pt x="0" y="2155042"/>
                </a:lnTo>
                <a:lnTo>
                  <a:pt x="0" y="0"/>
                </a:lnTo>
                <a:close/>
              </a:path>
            </a:pathLst>
          </a:custGeom>
          <a:blipFill>
            <a:blip r:embed="rId18"/>
            <a:stretch>
              <a:fillRect l="0" t="0" r="0" b="0"/>
            </a:stretch>
          </a:blipFill>
        </p:spPr>
      </p:sp>
      <p:sp>
        <p:nvSpPr>
          <p:cNvPr name="TextBox 11" id="11"/>
          <p:cNvSpPr txBox="true"/>
          <p:nvPr/>
        </p:nvSpPr>
        <p:spPr>
          <a:xfrm rot="0">
            <a:off x="2778754" y="4752675"/>
            <a:ext cx="11639680" cy="1816035"/>
          </a:xfrm>
          <a:prstGeom prst="rect">
            <a:avLst/>
          </a:prstGeom>
        </p:spPr>
        <p:txBody>
          <a:bodyPr anchor="t" rtlCol="false" tIns="0" lIns="0" bIns="0" rIns="0">
            <a:spAutoFit/>
          </a:bodyPr>
          <a:lstStyle/>
          <a:p>
            <a:pPr algn="ctr">
              <a:lnSpc>
                <a:spcPts val="6999"/>
              </a:lnSpc>
            </a:pPr>
            <a:r>
              <a:rPr lang="en-US" b="true" sz="6999" spc="181">
                <a:solidFill>
                  <a:srgbClr val="A65757"/>
                </a:solidFill>
                <a:latin typeface="Londrina Solid Heavy"/>
                <a:ea typeface="Londrina Solid Heavy"/>
                <a:cs typeface="Londrina Solid Heavy"/>
                <a:sym typeface="Londrina Solid Heavy"/>
              </a:rPr>
              <a:t>On Kernel-based Variational Autoencoder</a:t>
            </a:r>
          </a:p>
        </p:txBody>
      </p:sp>
      <p:sp>
        <p:nvSpPr>
          <p:cNvPr name="TextBox 12" id="12"/>
          <p:cNvSpPr txBox="true"/>
          <p:nvPr/>
        </p:nvSpPr>
        <p:spPr>
          <a:xfrm rot="0">
            <a:off x="5807832" y="7081623"/>
            <a:ext cx="6672337" cy="2364740"/>
          </a:xfrm>
          <a:prstGeom prst="rect">
            <a:avLst/>
          </a:prstGeom>
        </p:spPr>
        <p:txBody>
          <a:bodyPr anchor="t" rtlCol="false" tIns="0" lIns="0" bIns="0" rIns="0">
            <a:spAutoFit/>
          </a:bodyPr>
          <a:lstStyle/>
          <a:p>
            <a:pPr algn="ctr">
              <a:lnSpc>
                <a:spcPts val="3099"/>
              </a:lnSpc>
            </a:pPr>
            <a:r>
              <a:rPr lang="en-US" sz="3099" spc="80">
                <a:solidFill>
                  <a:srgbClr val="A65757"/>
                </a:solidFill>
                <a:latin typeface="Londrina Solid"/>
                <a:ea typeface="Londrina Solid"/>
                <a:cs typeface="Londrina Solid"/>
                <a:sym typeface="Londrina Solid"/>
              </a:rPr>
              <a:t>Presented by Team 5</a:t>
            </a:r>
          </a:p>
          <a:p>
            <a:pPr algn="ctr">
              <a:lnSpc>
                <a:spcPts val="3099"/>
              </a:lnSpc>
            </a:pPr>
          </a:p>
          <a:p>
            <a:pPr algn="l">
              <a:lnSpc>
                <a:spcPts val="3099"/>
              </a:lnSpc>
            </a:pPr>
            <a:r>
              <a:rPr lang="en-US" sz="3099" spc="80">
                <a:solidFill>
                  <a:srgbClr val="A65757"/>
                </a:solidFill>
                <a:latin typeface="Londrina Solid"/>
                <a:ea typeface="Londrina Solid"/>
                <a:cs typeface="Londrina Solid"/>
                <a:sym typeface="Londrina Solid"/>
              </a:rPr>
              <a:t>Bodapati Sai Krishna – CB.SC.U4AIE24308</a:t>
            </a:r>
          </a:p>
          <a:p>
            <a:pPr algn="l">
              <a:lnSpc>
                <a:spcPts val="3099"/>
              </a:lnSpc>
            </a:pPr>
            <a:r>
              <a:rPr lang="en-US" sz="3099" spc="80">
                <a:solidFill>
                  <a:srgbClr val="A65757"/>
                </a:solidFill>
                <a:latin typeface="Londrina Solid"/>
                <a:ea typeface="Londrina Solid"/>
                <a:cs typeface="Londrina Solid"/>
                <a:sym typeface="Londrina Solid"/>
              </a:rPr>
              <a:t> Dokku Naga Shiva – CB.SC.U4AIE24315</a:t>
            </a:r>
          </a:p>
          <a:p>
            <a:pPr algn="l">
              <a:lnSpc>
                <a:spcPts val="3099"/>
              </a:lnSpc>
            </a:pPr>
            <a:r>
              <a:rPr lang="en-US" sz="3099" spc="80">
                <a:solidFill>
                  <a:srgbClr val="A65757"/>
                </a:solidFill>
                <a:latin typeface="Londrina Solid"/>
                <a:ea typeface="Londrina Solid"/>
                <a:cs typeface="Londrina Solid"/>
                <a:sym typeface="Londrina Solid"/>
              </a:rPr>
              <a:t> Enku Sai Mohith – CB.SC.U4AIE24316 </a:t>
            </a:r>
          </a:p>
          <a:p>
            <a:pPr algn="l">
              <a:lnSpc>
                <a:spcPts val="3099"/>
              </a:lnSpc>
              <a:spcBef>
                <a:spcPct val="0"/>
              </a:spcBef>
            </a:pPr>
            <a:r>
              <a:rPr lang="en-US" sz="3099" spc="80">
                <a:solidFill>
                  <a:srgbClr val="A65757"/>
                </a:solidFill>
                <a:latin typeface="Londrina Solid"/>
                <a:ea typeface="Londrina Solid"/>
                <a:cs typeface="Londrina Solid"/>
                <a:sym typeface="Londrina Solid"/>
              </a:rPr>
              <a:t>Inaganti Mahalakshmi – CB.SC.U4AIE24322</a:t>
            </a:r>
          </a:p>
        </p:txBody>
      </p:sp>
      <p:sp>
        <p:nvSpPr>
          <p:cNvPr name="TextBox 13" id="13"/>
          <p:cNvSpPr txBox="true"/>
          <p:nvPr/>
        </p:nvSpPr>
        <p:spPr>
          <a:xfrm rot="0">
            <a:off x="2904826" y="2942344"/>
            <a:ext cx="11639680" cy="1004019"/>
          </a:xfrm>
          <a:prstGeom prst="rect">
            <a:avLst/>
          </a:prstGeom>
        </p:spPr>
        <p:txBody>
          <a:bodyPr anchor="t" rtlCol="false" tIns="0" lIns="0" bIns="0" rIns="0">
            <a:spAutoFit/>
          </a:bodyPr>
          <a:lstStyle/>
          <a:p>
            <a:pPr algn="ctr">
              <a:lnSpc>
                <a:spcPts val="3899"/>
              </a:lnSpc>
            </a:pPr>
            <a:r>
              <a:rPr lang="en-US" sz="3899" spc="101">
                <a:solidFill>
                  <a:srgbClr val="A65757"/>
                </a:solidFill>
                <a:latin typeface="Londrina Solid"/>
                <a:ea typeface="Londrina Solid"/>
                <a:cs typeface="Londrina Solid"/>
                <a:sym typeface="Londrina Solid"/>
              </a:rPr>
              <a:t>22MAT230</a:t>
            </a:r>
          </a:p>
          <a:p>
            <a:pPr algn="ctr">
              <a:lnSpc>
                <a:spcPts val="3899"/>
              </a:lnSpc>
              <a:spcBef>
                <a:spcPct val="0"/>
              </a:spcBef>
            </a:pPr>
            <a:r>
              <a:rPr lang="en-US" sz="3899" spc="101">
                <a:solidFill>
                  <a:srgbClr val="A65757"/>
                </a:solidFill>
                <a:latin typeface="Londrina Solid"/>
                <a:ea typeface="Londrina Solid"/>
                <a:cs typeface="Londrina Solid"/>
                <a:sym typeface="Londrina Solid"/>
              </a:rPr>
              <a:t>Mathematics f</a:t>
            </a:r>
            <a:r>
              <a:rPr lang="en-US" sz="3899" spc="101">
                <a:solidFill>
                  <a:srgbClr val="A65757"/>
                </a:solidFill>
                <a:latin typeface="Londrina Solid"/>
                <a:ea typeface="Londrina Solid"/>
                <a:cs typeface="Londrina Solid"/>
                <a:sym typeface="Londrina Solid"/>
              </a:rPr>
              <a:t>or Computing 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E7DA"/>
        </a:solidFill>
      </p:bgPr>
    </p:bg>
    <p:spTree>
      <p:nvGrpSpPr>
        <p:cNvPr id="1" name=""/>
        <p:cNvGrpSpPr/>
        <p:nvPr/>
      </p:nvGrpSpPr>
      <p:grpSpPr>
        <a:xfrm>
          <a:off x="0" y="0"/>
          <a:ext cx="0" cy="0"/>
          <a:chOff x="0" y="0"/>
          <a:chExt cx="0" cy="0"/>
        </a:xfrm>
      </p:grpSpPr>
      <p:sp>
        <p:nvSpPr>
          <p:cNvPr name="TextBox 2" id="2"/>
          <p:cNvSpPr txBox="true"/>
          <p:nvPr/>
        </p:nvSpPr>
        <p:spPr>
          <a:xfrm rot="0">
            <a:off x="2329621" y="2468340"/>
            <a:ext cx="5768223" cy="1069976"/>
          </a:xfrm>
          <a:prstGeom prst="rect">
            <a:avLst/>
          </a:prstGeom>
        </p:spPr>
        <p:txBody>
          <a:bodyPr anchor="t" rtlCol="false" tIns="0" lIns="0" bIns="0" rIns="0">
            <a:spAutoFit/>
          </a:bodyPr>
          <a:lstStyle/>
          <a:p>
            <a:pPr algn="ctr">
              <a:lnSpc>
                <a:spcPts val="8000"/>
              </a:lnSpc>
            </a:pPr>
            <a:r>
              <a:rPr lang="en-US" sz="8000" spc="208">
                <a:solidFill>
                  <a:srgbClr val="F6E7DA"/>
                </a:solidFill>
                <a:latin typeface="Londrina Solid"/>
                <a:ea typeface="Londrina Solid"/>
                <a:cs typeface="Londrina Solid"/>
                <a:sym typeface="Londrina Solid"/>
              </a:rPr>
              <a:t>Answer:</a:t>
            </a:r>
          </a:p>
        </p:txBody>
      </p:sp>
      <p:sp>
        <p:nvSpPr>
          <p:cNvPr name="TextBox 3" id="3"/>
          <p:cNvSpPr txBox="true"/>
          <p:nvPr/>
        </p:nvSpPr>
        <p:spPr>
          <a:xfrm rot="0">
            <a:off x="2329621" y="4708691"/>
            <a:ext cx="5810622" cy="688975"/>
          </a:xfrm>
          <a:prstGeom prst="rect">
            <a:avLst/>
          </a:prstGeom>
        </p:spPr>
        <p:txBody>
          <a:bodyPr anchor="t" rtlCol="false" tIns="0" lIns="0" bIns="0" rIns="0">
            <a:spAutoFit/>
          </a:bodyPr>
          <a:lstStyle/>
          <a:p>
            <a:pPr algn="l">
              <a:lnSpc>
                <a:spcPts val="5599"/>
              </a:lnSpc>
            </a:pPr>
            <a:r>
              <a:rPr lang="en-US" sz="3999">
                <a:solidFill>
                  <a:srgbClr val="F6E7DA"/>
                </a:solidFill>
                <a:latin typeface="Cloud"/>
                <a:ea typeface="Cloud"/>
                <a:cs typeface="Cloud"/>
                <a:sym typeface="Cloud"/>
              </a:rPr>
              <a:t>Simplify the expression:</a:t>
            </a:r>
          </a:p>
        </p:txBody>
      </p:sp>
      <p:pic>
        <p:nvPicPr>
          <p:cNvPr name="Picture 4" id="4"/>
          <p:cNvPicPr>
            <a:picLocks noChangeAspect="true"/>
          </p:cNvPicPr>
          <p:nvPr/>
        </p:nvPicPr>
        <p:blipFill>
          <a:blip r:embed="rId2"/>
          <a:stretch>
            <a:fillRect/>
          </a:stretch>
        </p:blipFill>
        <p:spPr>
          <a:xfrm rot="0">
            <a:off x="3443890" y="5735739"/>
            <a:ext cx="3844486" cy="1200131"/>
          </a:xfrm>
          <a:prstGeom prst="rect">
            <a:avLst/>
          </a:prstGeom>
        </p:spPr>
      </p:pic>
      <p:pic>
        <p:nvPicPr>
          <p:cNvPr name="Picture 5" id="5"/>
          <p:cNvPicPr>
            <a:picLocks noChangeAspect="true"/>
          </p:cNvPicPr>
          <p:nvPr/>
        </p:nvPicPr>
        <p:blipFill>
          <a:blip r:embed="rId3"/>
          <a:stretch>
            <a:fillRect/>
          </a:stretch>
        </p:blipFill>
        <p:spPr>
          <a:xfrm rot="0">
            <a:off x="12492145" y="7155304"/>
            <a:ext cx="2071096" cy="1016371"/>
          </a:xfrm>
          <a:prstGeom prst="rect">
            <a:avLst/>
          </a:prstGeom>
        </p:spPr>
      </p:pic>
      <p:sp>
        <p:nvSpPr>
          <p:cNvPr name="TextBox 6" id="6"/>
          <p:cNvSpPr txBox="true"/>
          <p:nvPr/>
        </p:nvSpPr>
        <p:spPr>
          <a:xfrm rot="0">
            <a:off x="307889" y="311560"/>
            <a:ext cx="18288000" cy="11981815"/>
          </a:xfrm>
          <a:prstGeom prst="rect">
            <a:avLst/>
          </a:prstGeom>
        </p:spPr>
        <p:txBody>
          <a:bodyPr anchor="t" rtlCol="false" tIns="0" lIns="0" bIns="0" rIns="0">
            <a:spAutoFit/>
          </a:bodyPr>
          <a:lstStyle/>
          <a:p>
            <a:pPr algn="l">
              <a:lnSpc>
                <a:spcPts val="4759"/>
              </a:lnSpc>
            </a:pPr>
            <a:r>
              <a:rPr lang="en-US" sz="3399" b="true">
                <a:solidFill>
                  <a:srgbClr val="000000"/>
                </a:solidFill>
                <a:latin typeface="Canva Sans Bold"/>
                <a:ea typeface="Canva Sans Bold"/>
                <a:cs typeface="Canva Sans Bold"/>
                <a:sym typeface="Canva Sans Bold"/>
              </a:rPr>
              <a:t>Variational Autoencoder (VAE)</a:t>
            </a:r>
            <a:r>
              <a:rPr lang="en-US" sz="3399">
                <a:solidFill>
                  <a:srgbClr val="000000"/>
                </a:solidFill>
                <a:latin typeface="Canva Sans"/>
                <a:ea typeface="Canva Sans"/>
                <a:cs typeface="Canva Sans"/>
                <a:sym typeface="Canva Sans"/>
              </a:rPr>
              <a:t> is generative model that learn a smooth, probabilistic latent space, allowing them not only to compress and reconstruct data but also to generate entirely new, realistic samples. VAEs capture the underlying structure of a dataset and produce outputs that closely resemble the original data.</a:t>
            </a:r>
          </a:p>
          <a:p>
            <a:pPr algn="l">
              <a:lnSpc>
                <a:spcPts val="4759"/>
              </a:lnSpc>
            </a:pPr>
          </a:p>
          <a:p>
            <a:pPr algn="l">
              <a:lnSpc>
                <a:spcPts val="4759"/>
              </a:lnSpc>
            </a:pPr>
            <a:r>
              <a:rPr lang="en-US" sz="3399" b="true">
                <a:solidFill>
                  <a:srgbClr val="000000"/>
                </a:solidFill>
                <a:latin typeface="Canva Sans Bold"/>
                <a:ea typeface="Canva Sans Bold"/>
                <a:cs typeface="Canva Sans Bold"/>
                <a:sym typeface="Canva Sans Bold"/>
              </a:rPr>
              <a:t>Step 1. Encoder (Understanding the Input)</a:t>
            </a:r>
          </a:p>
          <a:p>
            <a:pPr algn="l">
              <a:lnSpc>
                <a:spcPts val="4759"/>
              </a:lnSpc>
            </a:pPr>
            <a:r>
              <a:rPr lang="en-US" sz="3399">
                <a:solidFill>
                  <a:srgbClr val="000000"/>
                </a:solidFill>
                <a:latin typeface="Canva Sans"/>
                <a:ea typeface="Canva Sans"/>
                <a:cs typeface="Canva Sans"/>
                <a:sym typeface="Canva Sans"/>
              </a:rPr>
              <a:t>The encoder takes input data like images or text and learns its key features. Instead of outputting one fixed value, it produces two vectors for each feature:</a:t>
            </a:r>
          </a:p>
          <a:p>
            <a:pPr algn="l" marL="734059" indent="-367030" lvl="1">
              <a:lnSpc>
                <a:spcPts val="4759"/>
              </a:lnSpc>
              <a:buFont typeface="Arial"/>
              <a:buChar char="•"/>
            </a:pPr>
            <a:r>
              <a:rPr lang="en-US" b="true" sz="3399">
                <a:solidFill>
                  <a:srgbClr val="000000"/>
                </a:solidFill>
                <a:latin typeface="Canva Sans Medium"/>
                <a:ea typeface="Canva Sans Medium"/>
                <a:cs typeface="Canva Sans Medium"/>
                <a:sym typeface="Canva Sans Medium"/>
              </a:rPr>
              <a:t>Mean (μ)</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 </a:t>
            </a:r>
            <a:r>
              <a:rPr lang="en-US" b="true" sz="3399">
                <a:solidFill>
                  <a:srgbClr val="000000"/>
                </a:solidFill>
                <a:latin typeface="Canva Sans Bold"/>
                <a:ea typeface="Canva Sans Bold"/>
                <a:cs typeface="Canva Sans Bold"/>
                <a:sym typeface="Canva Sans Bold"/>
              </a:rPr>
              <a:t>Log-variance vector log(σ²)</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These parameters define a latent probability distribution  </a:t>
            </a:r>
            <a:r>
              <a:rPr lang="en-US" b="true" sz="3399">
                <a:solidFill>
                  <a:srgbClr val="000000"/>
                </a:solidFill>
                <a:latin typeface="Canva Sans Bold"/>
                <a:ea typeface="Canva Sans Bold"/>
                <a:cs typeface="Canva Sans Bold"/>
                <a:sym typeface="Canva Sans Bold"/>
              </a:rPr>
              <a:t>q(z | x)</a:t>
            </a:r>
          </a:p>
          <a:p>
            <a:pPr algn="l">
              <a:lnSpc>
                <a:spcPts val="4759"/>
              </a:lnSpc>
            </a:pPr>
          </a:p>
          <a:p>
            <a:pPr algn="l">
              <a:lnSpc>
                <a:spcPts val="4759"/>
              </a:lnSpc>
            </a:pPr>
            <a:r>
              <a:rPr lang="en-US" sz="3399" b="true">
                <a:solidFill>
                  <a:srgbClr val="000000"/>
                </a:solidFill>
                <a:latin typeface="Canva Sans Bold"/>
                <a:ea typeface="Canva Sans Bold"/>
                <a:cs typeface="Canva Sans Bold"/>
                <a:sym typeface="Canva Sans Bold"/>
              </a:rPr>
              <a:t>Step 2. Reparameterization Trick</a:t>
            </a:r>
          </a:p>
          <a:p>
            <a:pPr algn="l">
              <a:lnSpc>
                <a:spcPts val="4759"/>
              </a:lnSpc>
            </a:pPr>
          </a:p>
          <a:p>
            <a:pPr algn="l">
              <a:lnSpc>
                <a:spcPts val="4759"/>
              </a:lnSpc>
            </a:pPr>
            <a:r>
              <a:rPr lang="en-US" sz="3399">
                <a:solidFill>
                  <a:srgbClr val="000000"/>
                </a:solidFill>
                <a:latin typeface="Canva Sans"/>
                <a:ea typeface="Canva Sans"/>
                <a:cs typeface="Canva Sans"/>
                <a:sym typeface="Canva Sans"/>
              </a:rPr>
              <a:t>Sample random noise:</a:t>
            </a:r>
          </a:p>
          <a:p>
            <a:pPr algn="l">
              <a:lnSpc>
                <a:spcPts val="4759"/>
              </a:lnSpc>
            </a:pPr>
            <a:r>
              <a:rPr lang="en-US" sz="3399">
                <a:solidFill>
                  <a:srgbClr val="000000"/>
                </a:solidFill>
                <a:latin typeface="Canva Sans"/>
                <a:ea typeface="Canva Sans"/>
                <a:cs typeface="Canva Sans"/>
                <a:sym typeface="Canva Sans"/>
              </a:rPr>
              <a:t>                                                  </a:t>
            </a:r>
            <a:r>
              <a:rPr lang="en-US" sz="3399" b="true">
                <a:solidFill>
                  <a:srgbClr val="000000"/>
                </a:solidFill>
                <a:latin typeface="Canva Sans Bold"/>
                <a:ea typeface="Canva Sans Bold"/>
                <a:cs typeface="Canva Sans Bold"/>
                <a:sym typeface="Canva Sans Bold"/>
              </a:rPr>
              <a:t>ε ~ 𝒩(0, 1)</a:t>
            </a:r>
          </a:p>
          <a:p>
            <a:pPr algn="l">
              <a:lnSpc>
                <a:spcPts val="4759"/>
              </a:lnSpc>
            </a:pPr>
          </a:p>
          <a:p>
            <a:pPr algn="l">
              <a:lnSpc>
                <a:spcPts val="4759"/>
              </a:lnSpc>
            </a:pPr>
          </a:p>
          <a:p>
            <a:pPr algn="l">
              <a:lnSpc>
                <a:spcPts val="4759"/>
              </a:lnSpc>
            </a:pPr>
          </a:p>
          <a:p>
            <a:pPr algn="l">
              <a:lnSpc>
                <a:spcPts val="475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E7DA"/>
        </a:solidFill>
      </p:bgPr>
    </p:bg>
    <p:spTree>
      <p:nvGrpSpPr>
        <p:cNvPr id="1" name=""/>
        <p:cNvGrpSpPr/>
        <p:nvPr/>
      </p:nvGrpSpPr>
      <p:grpSpPr>
        <a:xfrm>
          <a:off x="0" y="0"/>
          <a:ext cx="0" cy="0"/>
          <a:chOff x="0" y="0"/>
          <a:chExt cx="0" cy="0"/>
        </a:xfrm>
      </p:grpSpPr>
      <p:sp>
        <p:nvSpPr>
          <p:cNvPr name="TextBox 2" id="2"/>
          <p:cNvSpPr txBox="true"/>
          <p:nvPr/>
        </p:nvSpPr>
        <p:spPr>
          <a:xfrm rot="0">
            <a:off x="1640330" y="2766386"/>
            <a:ext cx="5768223" cy="1069976"/>
          </a:xfrm>
          <a:prstGeom prst="rect">
            <a:avLst/>
          </a:prstGeom>
        </p:spPr>
        <p:txBody>
          <a:bodyPr anchor="t" rtlCol="false" tIns="0" lIns="0" bIns="0" rIns="0">
            <a:spAutoFit/>
          </a:bodyPr>
          <a:lstStyle/>
          <a:p>
            <a:pPr algn="ctr">
              <a:lnSpc>
                <a:spcPts val="8000"/>
              </a:lnSpc>
            </a:pPr>
            <a:r>
              <a:rPr lang="en-US" sz="8000" spc="208">
                <a:solidFill>
                  <a:srgbClr val="F6E7DA"/>
                </a:solidFill>
                <a:latin typeface="Londrina Solid"/>
                <a:ea typeface="Londrina Solid"/>
                <a:cs typeface="Londrina Solid"/>
                <a:sym typeface="Londrina Solid"/>
              </a:rPr>
              <a:t>Question 6</a:t>
            </a:r>
          </a:p>
        </p:txBody>
      </p:sp>
      <p:pic>
        <p:nvPicPr>
          <p:cNvPr name="Picture 3" id="3"/>
          <p:cNvPicPr>
            <a:picLocks noChangeAspect="true"/>
          </p:cNvPicPr>
          <p:nvPr/>
        </p:nvPicPr>
        <p:blipFill>
          <a:blip r:embed="rId2"/>
          <a:stretch>
            <a:fillRect/>
          </a:stretch>
        </p:blipFill>
        <p:spPr>
          <a:xfrm rot="0">
            <a:off x="2117611" y="5513898"/>
            <a:ext cx="4382225" cy="1339013"/>
          </a:xfrm>
          <a:prstGeom prst="rect">
            <a:avLst/>
          </a:prstGeom>
        </p:spPr>
      </p:pic>
      <p:sp>
        <p:nvSpPr>
          <p:cNvPr name="TextBox 4" id="4"/>
          <p:cNvSpPr txBox="true"/>
          <p:nvPr/>
        </p:nvSpPr>
        <p:spPr>
          <a:xfrm rot="0">
            <a:off x="123630" y="319405"/>
            <a:ext cx="18040741" cy="10781665"/>
          </a:xfrm>
          <a:prstGeom prst="rect">
            <a:avLst/>
          </a:prstGeom>
        </p:spPr>
        <p:txBody>
          <a:bodyPr anchor="t" rtlCol="false" tIns="0" lIns="0" bIns="0" rIns="0">
            <a:spAutoFit/>
          </a:bodyPr>
          <a:lstStyle/>
          <a:p>
            <a:pPr algn="just">
              <a:lnSpc>
                <a:spcPts val="4759"/>
              </a:lnSpc>
            </a:pPr>
            <a:r>
              <a:rPr lang="en-US" sz="3399">
                <a:solidFill>
                  <a:srgbClr val="000000"/>
                </a:solidFill>
                <a:latin typeface="Canva Sans"/>
                <a:ea typeface="Canva Sans"/>
                <a:cs typeface="Canva Sans"/>
                <a:sym typeface="Canva Sans"/>
              </a:rPr>
              <a:t>Compute standard deviation:</a:t>
            </a:r>
          </a:p>
          <a:p>
            <a:pPr algn="just">
              <a:lnSpc>
                <a:spcPts val="4759"/>
              </a:lnSpc>
            </a:pPr>
            <a:r>
              <a:rPr lang="en-US" sz="3399" b="true">
                <a:solidFill>
                  <a:srgbClr val="000000"/>
                </a:solidFill>
                <a:latin typeface="Canva Sans Bold"/>
                <a:ea typeface="Canva Sans Bold"/>
                <a:cs typeface="Canva Sans Bold"/>
                <a:sym typeface="Canva Sans Bold"/>
              </a:rPr>
              <a:t>σ = exp(0.5 · log(σ²))</a:t>
            </a:r>
          </a:p>
          <a:p>
            <a:pPr algn="just">
              <a:lnSpc>
                <a:spcPts val="4759"/>
              </a:lnSpc>
            </a:pPr>
          </a:p>
          <a:p>
            <a:pPr algn="just">
              <a:lnSpc>
                <a:spcPts val="4759"/>
              </a:lnSpc>
            </a:pPr>
            <a:r>
              <a:rPr lang="en-US" sz="3399">
                <a:solidFill>
                  <a:srgbClr val="000000"/>
                </a:solidFill>
                <a:latin typeface="Canva Sans"/>
                <a:ea typeface="Canva Sans"/>
                <a:cs typeface="Canva Sans"/>
                <a:sym typeface="Canva Sans"/>
              </a:rPr>
              <a:t>Generate latent vector:</a:t>
            </a:r>
          </a:p>
          <a:p>
            <a:pPr algn="just">
              <a:lnSpc>
                <a:spcPts val="4759"/>
              </a:lnSpc>
            </a:pPr>
            <a:r>
              <a:rPr lang="en-US" sz="3399" b="true">
                <a:solidFill>
                  <a:srgbClr val="000000"/>
                </a:solidFill>
                <a:latin typeface="Canva Sans Bold"/>
                <a:ea typeface="Canva Sans Bold"/>
                <a:cs typeface="Canva Sans Bold"/>
                <a:sym typeface="Canva Sans Bold"/>
              </a:rPr>
              <a:t>z = μ + σ · ε</a:t>
            </a:r>
          </a:p>
          <a:p>
            <a:pPr algn="just">
              <a:lnSpc>
                <a:spcPts val="4759"/>
              </a:lnSpc>
            </a:pPr>
            <a:r>
              <a:rPr lang="en-US" sz="3399">
                <a:solidFill>
                  <a:srgbClr val="000000"/>
                </a:solidFill>
                <a:latin typeface="Canva Sans"/>
                <a:ea typeface="Canva Sans"/>
                <a:cs typeface="Canva Sans"/>
                <a:sym typeface="Canva Sans"/>
              </a:rPr>
              <a:t>• This trick allows backpropagation through randomness.</a:t>
            </a:r>
          </a:p>
          <a:p>
            <a:pPr algn="just">
              <a:lnSpc>
                <a:spcPts val="4759"/>
              </a:lnSpc>
            </a:pPr>
          </a:p>
          <a:p>
            <a:pPr algn="just">
              <a:lnSpc>
                <a:spcPts val="4759"/>
              </a:lnSpc>
            </a:pPr>
            <a:r>
              <a:rPr lang="en-US" sz="3399" b="true">
                <a:solidFill>
                  <a:srgbClr val="000000"/>
                </a:solidFill>
                <a:latin typeface="Canva Sans Bold"/>
                <a:ea typeface="Canva Sans Bold"/>
                <a:cs typeface="Canva Sans Bold"/>
                <a:sym typeface="Canva Sans Bold"/>
              </a:rPr>
              <a:t>Step 3: Decoding</a:t>
            </a:r>
          </a:p>
          <a:p>
            <a:pPr algn="just">
              <a:lnSpc>
                <a:spcPts val="4759"/>
              </a:lnSpc>
            </a:pPr>
            <a:r>
              <a:rPr lang="en-US" sz="3399">
                <a:solidFill>
                  <a:srgbClr val="000000"/>
                </a:solidFill>
                <a:latin typeface="Canva Sans"/>
                <a:ea typeface="Canva Sans"/>
                <a:cs typeface="Canva Sans"/>
                <a:sym typeface="Canva Sans"/>
              </a:rPr>
              <a:t>• The latent vector z is passed to the Decoder.</a:t>
            </a:r>
          </a:p>
          <a:p>
            <a:pPr algn="just">
              <a:lnSpc>
                <a:spcPts val="4759"/>
              </a:lnSpc>
            </a:pPr>
            <a:r>
              <a:rPr lang="en-US" sz="3399">
                <a:solidFill>
                  <a:srgbClr val="000000"/>
                </a:solidFill>
                <a:latin typeface="Canva Sans"/>
                <a:ea typeface="Canva Sans"/>
                <a:cs typeface="Canva Sans"/>
                <a:sym typeface="Canva Sans"/>
              </a:rPr>
              <a:t>• The Decoder reconstructs the image x̂ </a:t>
            </a:r>
          </a:p>
          <a:p>
            <a:pPr algn="just">
              <a:lnSpc>
                <a:spcPts val="4759"/>
              </a:lnSpc>
            </a:pPr>
          </a:p>
          <a:p>
            <a:pPr algn="just">
              <a:lnSpc>
                <a:spcPts val="4759"/>
              </a:lnSpc>
            </a:pPr>
            <a:r>
              <a:rPr lang="en-US" sz="3399" b="true">
                <a:solidFill>
                  <a:srgbClr val="000000"/>
                </a:solidFill>
                <a:latin typeface="Canva Sans Bold"/>
                <a:ea typeface="Canva Sans Bold"/>
                <a:cs typeface="Canva Sans Bold"/>
                <a:sym typeface="Canva Sans Bold"/>
              </a:rPr>
              <a:t>Step 4: Reconstruction Loss</a:t>
            </a:r>
          </a:p>
          <a:p>
            <a:pPr algn="just" marL="734059" indent="-367030" lvl="1">
              <a:lnSpc>
                <a:spcPts val="4759"/>
              </a:lnSpc>
              <a:buFont typeface="Arial"/>
              <a:buChar char="•"/>
            </a:pPr>
            <a:r>
              <a:rPr lang="en-US" sz="3399">
                <a:solidFill>
                  <a:srgbClr val="000000"/>
                </a:solidFill>
                <a:latin typeface="Canva Sans"/>
                <a:ea typeface="Canva Sans"/>
                <a:cs typeface="Canva Sans"/>
                <a:sym typeface="Canva Sans"/>
              </a:rPr>
              <a:t> Measures how close x̂ is to the original input x.</a:t>
            </a:r>
          </a:p>
          <a:p>
            <a:pPr algn="just" marL="734059" indent="-367030" lvl="1">
              <a:lnSpc>
                <a:spcPts val="4759"/>
              </a:lnSpc>
              <a:buFont typeface="Arial"/>
              <a:buChar char="•"/>
            </a:pPr>
            <a:r>
              <a:rPr lang="en-US" sz="3399">
                <a:solidFill>
                  <a:srgbClr val="000000"/>
                </a:solidFill>
                <a:latin typeface="Canva Sans"/>
                <a:ea typeface="Canva Sans"/>
                <a:cs typeface="Canva Sans"/>
                <a:sym typeface="Canva Sans"/>
              </a:rPr>
              <a:t> Common loss functions:</a:t>
            </a:r>
          </a:p>
          <a:p>
            <a:pPr algn="just" marL="734059" indent="-367030" lvl="1">
              <a:lnSpc>
                <a:spcPts val="4759"/>
              </a:lnSpc>
              <a:buFont typeface="Arial"/>
              <a:buChar char="•"/>
            </a:pPr>
            <a:r>
              <a:rPr lang="en-US" sz="3399">
                <a:solidFill>
                  <a:srgbClr val="000000"/>
                </a:solidFill>
                <a:latin typeface="Canva Sans"/>
                <a:ea typeface="Canva Sans"/>
                <a:cs typeface="Canva Sans"/>
                <a:sym typeface="Canva Sans"/>
              </a:rPr>
              <a:t> Binary Cross-Entropy (BCE) → for binary images</a:t>
            </a:r>
          </a:p>
          <a:p>
            <a:pPr algn="just" marL="734059" indent="-367030" lvl="1">
              <a:lnSpc>
                <a:spcPts val="4759"/>
              </a:lnSpc>
              <a:buFont typeface="Arial"/>
              <a:buChar char="•"/>
            </a:pPr>
            <a:r>
              <a:rPr lang="en-US" sz="3399">
                <a:solidFill>
                  <a:srgbClr val="000000"/>
                </a:solidFill>
                <a:latin typeface="Canva Sans"/>
                <a:ea typeface="Canva Sans"/>
                <a:cs typeface="Canva Sans"/>
                <a:sym typeface="Canva Sans"/>
              </a:rPr>
              <a:t> Mean Squared Error (MSE) → for real-valued images</a:t>
            </a:r>
          </a:p>
          <a:p>
            <a:pPr algn="just">
              <a:lnSpc>
                <a:spcPts val="4759"/>
              </a:lnSpc>
            </a:pPr>
          </a:p>
          <a:p>
            <a:pPr algn="just">
              <a:lnSpc>
                <a:spcPts val="4759"/>
              </a:lnSpc>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6E7DA"/>
        </a:solidFill>
      </p:bgPr>
    </p:bg>
    <p:spTree>
      <p:nvGrpSpPr>
        <p:cNvPr id="1" name=""/>
        <p:cNvGrpSpPr/>
        <p:nvPr/>
      </p:nvGrpSpPr>
      <p:grpSpPr>
        <a:xfrm>
          <a:off x="0" y="0"/>
          <a:ext cx="0" cy="0"/>
          <a:chOff x="0" y="0"/>
          <a:chExt cx="0" cy="0"/>
        </a:xfrm>
      </p:grpSpPr>
      <p:sp>
        <p:nvSpPr>
          <p:cNvPr name="TextBox 2" id="2"/>
          <p:cNvSpPr txBox="true"/>
          <p:nvPr/>
        </p:nvSpPr>
        <p:spPr>
          <a:xfrm rot="0">
            <a:off x="0" y="123150"/>
            <a:ext cx="18288000" cy="12581890"/>
          </a:xfrm>
          <a:prstGeom prst="rect">
            <a:avLst/>
          </a:prstGeom>
        </p:spPr>
        <p:txBody>
          <a:bodyPr anchor="t" rtlCol="false" tIns="0" lIns="0" bIns="0" rIns="0">
            <a:spAutoFit/>
          </a:bodyPr>
          <a:lstStyle/>
          <a:p>
            <a:pPr algn="l">
              <a:lnSpc>
                <a:spcPts val="4759"/>
              </a:lnSpc>
            </a:pPr>
            <a:r>
              <a:rPr lang="en-US" b="true" sz="3399">
                <a:solidFill>
                  <a:srgbClr val="000000"/>
                </a:solidFill>
                <a:latin typeface="Canva Sans Bold"/>
                <a:ea typeface="Canva Sans Bold"/>
                <a:cs typeface="Canva Sans Bold"/>
                <a:sym typeface="Canva Sans Bold"/>
              </a:rPr>
              <a:t>Step 5: KL Divergence Loss</a:t>
            </a:r>
          </a:p>
          <a:p>
            <a:pPr algn="l">
              <a:lnSpc>
                <a:spcPts val="4759"/>
              </a:lnSpc>
            </a:pPr>
            <a:r>
              <a:rPr lang="en-US" sz="3399">
                <a:solidFill>
                  <a:srgbClr val="000000"/>
                </a:solidFill>
                <a:latin typeface="Canva Sans"/>
                <a:ea typeface="Canva Sans"/>
                <a:cs typeface="Canva Sans"/>
                <a:sym typeface="Canva Sans"/>
              </a:rPr>
              <a:t>Measures how much the learned distribution q(z | x) differs from the prior p(z) = 𝒩(0, 1)</a:t>
            </a:r>
          </a:p>
          <a:p>
            <a:pPr algn="l">
              <a:lnSpc>
                <a:spcPts val="4759"/>
              </a:lnSpc>
            </a:pPr>
            <a:r>
              <a:rPr lang="en-US" sz="3399">
                <a:solidFill>
                  <a:srgbClr val="000000"/>
                </a:solidFill>
                <a:latin typeface="Canva Sans"/>
                <a:ea typeface="Canva Sans"/>
                <a:cs typeface="Canva Sans"/>
                <a:sym typeface="Canva Sans"/>
              </a:rPr>
              <a:t>KL divergence formula:</a:t>
            </a:r>
          </a:p>
          <a:p>
            <a:pPr algn="l">
              <a:lnSpc>
                <a:spcPts val="4759"/>
              </a:lnSpc>
            </a:pPr>
            <a:r>
              <a:rPr lang="en-US" sz="3399">
                <a:solidFill>
                  <a:srgbClr val="000000"/>
                </a:solidFill>
                <a:latin typeface="Canva Sans"/>
                <a:ea typeface="Canva Sans"/>
                <a:cs typeface="Canva Sans"/>
                <a:sym typeface="Canva Sans"/>
              </a:rPr>
              <a:t>                                     </a:t>
            </a:r>
            <a:r>
              <a:rPr lang="en-US" b="true" sz="3399">
                <a:solidFill>
                  <a:srgbClr val="000000"/>
                </a:solidFill>
                <a:latin typeface="Canva Sans Bold"/>
                <a:ea typeface="Canva Sans Bold"/>
                <a:cs typeface="Canva Sans Bold"/>
                <a:sym typeface="Canva Sans Bold"/>
              </a:rPr>
              <a:t>KL = − 1/2 · ∑ ( 1 + log(σ²) − μ² − σ² )</a:t>
            </a:r>
          </a:p>
          <a:p>
            <a:pPr algn="l">
              <a:lnSpc>
                <a:spcPts val="4759"/>
              </a:lnSpc>
            </a:pPr>
          </a:p>
          <a:p>
            <a:pPr algn="l">
              <a:lnSpc>
                <a:spcPts val="4759"/>
              </a:lnSpc>
            </a:pPr>
          </a:p>
          <a:p>
            <a:pPr algn="l">
              <a:lnSpc>
                <a:spcPts val="4759"/>
              </a:lnSpc>
            </a:pPr>
            <a:r>
              <a:rPr lang="en-US" b="true" sz="3399">
                <a:solidFill>
                  <a:srgbClr val="000000"/>
                </a:solidFill>
                <a:latin typeface="Canva Sans Bold"/>
                <a:ea typeface="Canva Sans Bold"/>
                <a:cs typeface="Canva Sans Bold"/>
                <a:sym typeface="Canva Sans Bold"/>
              </a:rPr>
              <a:t>Step 6: Total Loss</a:t>
            </a:r>
          </a:p>
          <a:p>
            <a:pPr algn="l">
              <a:lnSpc>
                <a:spcPts val="4759"/>
              </a:lnSpc>
            </a:pPr>
            <a:r>
              <a:rPr lang="en-US" sz="3399">
                <a:solidFill>
                  <a:srgbClr val="000000"/>
                </a:solidFill>
                <a:latin typeface="Canva Sans"/>
                <a:ea typeface="Canva Sans"/>
                <a:cs typeface="Canva Sans"/>
                <a:sym typeface="Canva Sans"/>
              </a:rPr>
              <a:t> The total VAE loss is the sum of two terms:</a:t>
            </a:r>
          </a:p>
          <a:p>
            <a:pPr algn="l">
              <a:lnSpc>
                <a:spcPts val="4759"/>
              </a:lnSpc>
            </a:pPr>
          </a:p>
          <a:p>
            <a:pPr algn="l">
              <a:lnSpc>
                <a:spcPts val="4759"/>
              </a:lnSpc>
            </a:pPr>
            <a:r>
              <a:rPr lang="en-US" sz="3399">
                <a:solidFill>
                  <a:srgbClr val="000000"/>
                </a:solidFill>
                <a:latin typeface="Canva Sans"/>
                <a:ea typeface="Canva Sans"/>
                <a:cs typeface="Canva Sans"/>
                <a:sym typeface="Canva Sans"/>
              </a:rPr>
              <a:t>                                       </a:t>
            </a:r>
            <a:r>
              <a:rPr lang="en-US" b="true" sz="3399">
                <a:solidFill>
                  <a:srgbClr val="000000"/>
                </a:solidFill>
                <a:latin typeface="Canva Sans Bold"/>
                <a:ea typeface="Canva Sans Bold"/>
                <a:cs typeface="Canva Sans Bold"/>
                <a:sym typeface="Canva Sans Bold"/>
              </a:rPr>
              <a:t>L = Reconstruction Loss + KL Divergence Loss</a:t>
            </a:r>
          </a:p>
          <a:p>
            <a:pPr algn="l">
              <a:lnSpc>
                <a:spcPts val="4759"/>
              </a:lnSpc>
            </a:pPr>
          </a:p>
          <a:p>
            <a:pPr algn="l">
              <a:lnSpc>
                <a:spcPts val="4759"/>
              </a:lnSpc>
            </a:pPr>
          </a:p>
          <a:p>
            <a:pPr algn="l">
              <a:lnSpc>
                <a:spcPts val="4759"/>
              </a:lnSpc>
            </a:pPr>
          </a:p>
          <a:p>
            <a:pPr algn="l">
              <a:lnSpc>
                <a:spcPts val="4759"/>
              </a:lnSpc>
            </a:pPr>
            <a:r>
              <a:rPr lang="en-US" b="true" sz="3399">
                <a:solidFill>
                  <a:srgbClr val="000000"/>
                </a:solidFill>
                <a:latin typeface="Canva Sans Bold"/>
                <a:ea typeface="Canva Sans Bold"/>
                <a:cs typeface="Canva Sans Bold"/>
                <a:sym typeface="Canva Sans Bold"/>
              </a:rPr>
              <a:t>Step 7: Backpropagation</a:t>
            </a:r>
          </a:p>
          <a:p>
            <a:pPr algn="l">
              <a:lnSpc>
                <a:spcPts val="4759"/>
              </a:lnSpc>
            </a:pPr>
            <a:r>
              <a:rPr lang="en-US" sz="3399">
                <a:solidFill>
                  <a:srgbClr val="000000"/>
                </a:solidFill>
                <a:latin typeface="Canva Sans"/>
                <a:ea typeface="Canva Sans"/>
                <a:cs typeface="Canva Sans"/>
                <a:sym typeface="Canva Sans"/>
              </a:rPr>
              <a:t>Gradients of the total loss L are computed.</a:t>
            </a:r>
          </a:p>
          <a:p>
            <a:pPr algn="l">
              <a:lnSpc>
                <a:spcPts val="4759"/>
              </a:lnSpc>
            </a:pPr>
            <a:r>
              <a:rPr lang="en-US" sz="3399">
                <a:solidFill>
                  <a:srgbClr val="000000"/>
                </a:solidFill>
                <a:latin typeface="Canva Sans"/>
                <a:ea typeface="Canva Sans"/>
                <a:cs typeface="Canva Sans"/>
                <a:sym typeface="Canva Sans"/>
              </a:rPr>
              <a:t>Encoder and Decoder parameters are updated using gradient descent.</a:t>
            </a:r>
          </a:p>
          <a:p>
            <a:pPr algn="l">
              <a:lnSpc>
                <a:spcPts val="4759"/>
              </a:lnSpc>
            </a:pPr>
          </a:p>
          <a:p>
            <a:pPr algn="l">
              <a:lnSpc>
                <a:spcPts val="4759"/>
              </a:lnSpc>
            </a:pPr>
          </a:p>
          <a:p>
            <a:pPr algn="l">
              <a:lnSpc>
                <a:spcPts val="4759"/>
              </a:lnSpc>
            </a:pPr>
          </a:p>
          <a:p>
            <a:pPr algn="l">
              <a:lnSpc>
                <a:spcPts val="4759"/>
              </a:lnSpc>
            </a:pPr>
          </a:p>
          <a:p>
            <a:pPr algn="l">
              <a:lnSpc>
                <a:spcPts val="475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04950"/>
        </a:solidFill>
      </p:bgPr>
    </p:bg>
    <p:spTree>
      <p:nvGrpSpPr>
        <p:cNvPr id="1" name=""/>
        <p:cNvGrpSpPr/>
        <p:nvPr/>
      </p:nvGrpSpPr>
      <p:grpSpPr>
        <a:xfrm>
          <a:off x="0" y="0"/>
          <a:ext cx="0" cy="0"/>
          <a:chOff x="0" y="0"/>
          <a:chExt cx="0" cy="0"/>
        </a:xfrm>
      </p:grpSpPr>
      <p:grpSp>
        <p:nvGrpSpPr>
          <p:cNvPr name="Group 2" id="2"/>
          <p:cNvGrpSpPr/>
          <p:nvPr/>
        </p:nvGrpSpPr>
        <p:grpSpPr>
          <a:xfrm rot="0">
            <a:off x="228987" y="1269088"/>
            <a:ext cx="16230600" cy="8638977"/>
            <a:chOff x="0" y="0"/>
            <a:chExt cx="21640800" cy="11518636"/>
          </a:xfrm>
        </p:grpSpPr>
        <p:sp>
          <p:nvSpPr>
            <p:cNvPr name="Freeform 3" id="3"/>
            <p:cNvSpPr/>
            <p:nvPr/>
          </p:nvSpPr>
          <p:spPr>
            <a:xfrm flipH="false" flipV="false" rot="0">
              <a:off x="0" y="0"/>
              <a:ext cx="21640800" cy="9679340"/>
            </a:xfrm>
            <a:custGeom>
              <a:avLst/>
              <a:gdLst/>
              <a:ahLst/>
              <a:cxnLst/>
              <a:rect r="r" b="b" t="t" l="l"/>
              <a:pathLst>
                <a:path h="9679340" w="21640800">
                  <a:moveTo>
                    <a:pt x="0" y="0"/>
                  </a:moveTo>
                  <a:lnTo>
                    <a:pt x="21640800" y="0"/>
                  </a:lnTo>
                  <a:lnTo>
                    <a:pt x="21640800" y="9679340"/>
                  </a:lnTo>
                  <a:lnTo>
                    <a:pt x="0" y="9679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1839296"/>
              <a:ext cx="21640800" cy="9679340"/>
            </a:xfrm>
            <a:custGeom>
              <a:avLst/>
              <a:gdLst/>
              <a:ahLst/>
              <a:cxnLst/>
              <a:rect r="r" b="b" t="t" l="l"/>
              <a:pathLst>
                <a:path h="9679340" w="21640800">
                  <a:moveTo>
                    <a:pt x="0" y="0"/>
                  </a:moveTo>
                  <a:lnTo>
                    <a:pt x="21640800" y="0"/>
                  </a:lnTo>
                  <a:lnTo>
                    <a:pt x="21640800" y="9679340"/>
                  </a:lnTo>
                  <a:lnTo>
                    <a:pt x="0" y="9679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908501" y="1467167"/>
            <a:ext cx="14122589" cy="6315710"/>
          </a:xfrm>
          <a:prstGeom prst="rect">
            <a:avLst/>
          </a:prstGeom>
        </p:spPr>
        <p:txBody>
          <a:bodyPr anchor="t" rtlCol="false" tIns="0" lIns="0" bIns="0" rIns="0">
            <a:spAutoFit/>
          </a:bodyPr>
          <a:lstStyle/>
          <a:p>
            <a:pPr algn="l">
              <a:lnSpc>
                <a:spcPts val="8499"/>
              </a:lnSpc>
            </a:pPr>
          </a:p>
          <a:p>
            <a:pPr algn="l">
              <a:lnSpc>
                <a:spcPts val="8499"/>
              </a:lnSpc>
            </a:pPr>
            <a:r>
              <a:rPr lang="en-US" b="true" sz="3399">
                <a:solidFill>
                  <a:srgbClr val="000000"/>
                </a:solidFill>
                <a:latin typeface="Canva Sans Bold"/>
                <a:ea typeface="Canva Sans Bold"/>
                <a:cs typeface="Canva Sans Bold"/>
                <a:sym typeface="Canva Sans Bold"/>
              </a:rPr>
              <a:t>Step 8: Image Generation (After Training)</a:t>
            </a:r>
          </a:p>
          <a:p>
            <a:pPr algn="l" marL="734059" indent="-367030" lvl="1">
              <a:lnSpc>
                <a:spcPts val="8499"/>
              </a:lnSpc>
              <a:buFont typeface="Arial"/>
              <a:buChar char="•"/>
            </a:pPr>
            <a:r>
              <a:rPr lang="en-US" sz="3399">
                <a:solidFill>
                  <a:srgbClr val="000000"/>
                </a:solidFill>
                <a:latin typeface="Canva Sans"/>
                <a:ea typeface="Canva Sans"/>
                <a:cs typeface="Canva Sans"/>
                <a:sym typeface="Canva Sans"/>
              </a:rPr>
              <a:t>Sample a latent vector. z ~ 𝒩(0, 1)</a:t>
            </a:r>
          </a:p>
          <a:p>
            <a:pPr algn="l" marL="734059" indent="-367030" lvl="1">
              <a:lnSpc>
                <a:spcPts val="8499"/>
              </a:lnSpc>
              <a:buFont typeface="Arial"/>
              <a:buChar char="•"/>
            </a:pPr>
            <a:r>
              <a:rPr lang="en-US" sz="3399">
                <a:solidFill>
                  <a:srgbClr val="000000"/>
                </a:solidFill>
                <a:latin typeface="Canva Sans"/>
                <a:ea typeface="Canva Sans"/>
                <a:cs typeface="Canva Sans"/>
                <a:sym typeface="Canva Sans"/>
              </a:rPr>
              <a:t> Pass z directly to the Decoder.</a:t>
            </a:r>
          </a:p>
          <a:p>
            <a:pPr algn="l" marL="734059" indent="-367030" lvl="1">
              <a:lnSpc>
                <a:spcPts val="8499"/>
              </a:lnSpc>
              <a:buFont typeface="Arial"/>
              <a:buChar char="•"/>
            </a:pPr>
            <a:r>
              <a:rPr lang="en-US" sz="3399">
                <a:solidFill>
                  <a:srgbClr val="000000"/>
                </a:solidFill>
                <a:latin typeface="Canva Sans"/>
                <a:ea typeface="Canva Sans"/>
                <a:cs typeface="Canva Sans"/>
                <a:sym typeface="Canva Sans"/>
              </a:rPr>
              <a:t> The Decoder generates new, realistic images.</a:t>
            </a:r>
          </a:p>
          <a:p>
            <a:pPr algn="l">
              <a:lnSpc>
                <a:spcPts val="849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E7DA"/>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2077062" y="5362819"/>
            <a:ext cx="4661941" cy="1354483"/>
          </a:xfrm>
          <a:prstGeom prst="rect">
            <a:avLst/>
          </a:prstGeom>
        </p:spPr>
      </p:pic>
      <p:pic>
        <p:nvPicPr>
          <p:cNvPr name="Picture 3" id="3"/>
          <p:cNvPicPr>
            <a:picLocks noChangeAspect="true"/>
          </p:cNvPicPr>
          <p:nvPr/>
        </p:nvPicPr>
        <p:blipFill>
          <a:blip r:embed="rId3"/>
          <a:stretch>
            <a:fillRect/>
          </a:stretch>
        </p:blipFill>
        <p:spPr>
          <a:xfrm rot="0">
            <a:off x="12897700" y="4795480"/>
            <a:ext cx="1259984" cy="787490"/>
          </a:xfrm>
          <a:prstGeom prst="rect">
            <a:avLst/>
          </a:prstGeom>
        </p:spPr>
      </p:pic>
      <p:pic>
        <p:nvPicPr>
          <p:cNvPr name="Picture 4" id="4"/>
          <p:cNvPicPr>
            <a:picLocks noChangeAspect="true"/>
          </p:cNvPicPr>
          <p:nvPr/>
        </p:nvPicPr>
        <p:blipFill>
          <a:blip r:embed="rId4"/>
          <a:srcRect l="0" t="0" r="0" b="0"/>
          <a:stretch>
            <a:fillRect/>
          </a:stretch>
        </p:blipFill>
        <p:spPr>
          <a:xfrm flipH="false" flipV="false" rot="375728">
            <a:off x="10396444" y="4910554"/>
            <a:ext cx="1329456" cy="1282925"/>
          </a:xfrm>
          <a:prstGeom prst="rect">
            <a:avLst/>
          </a:prstGeom>
        </p:spPr>
      </p:pic>
      <p:sp>
        <p:nvSpPr>
          <p:cNvPr name="TextBox 5" id="5"/>
          <p:cNvSpPr txBox="true"/>
          <p:nvPr/>
        </p:nvSpPr>
        <p:spPr>
          <a:xfrm rot="0">
            <a:off x="1523921" y="2328892"/>
            <a:ext cx="5768223" cy="1069976"/>
          </a:xfrm>
          <a:prstGeom prst="rect">
            <a:avLst/>
          </a:prstGeom>
        </p:spPr>
        <p:txBody>
          <a:bodyPr anchor="t" rtlCol="false" tIns="0" lIns="0" bIns="0" rIns="0">
            <a:spAutoFit/>
          </a:bodyPr>
          <a:lstStyle/>
          <a:p>
            <a:pPr algn="ctr">
              <a:lnSpc>
                <a:spcPts val="8000"/>
              </a:lnSpc>
            </a:pPr>
            <a:r>
              <a:rPr lang="en-US" sz="8000" spc="208">
                <a:solidFill>
                  <a:srgbClr val="F6E7DA"/>
                </a:solidFill>
                <a:latin typeface="Londrina Solid"/>
                <a:ea typeface="Londrina Solid"/>
                <a:cs typeface="Londrina Solid"/>
                <a:sym typeface="Londrina Solid"/>
              </a:rPr>
              <a:t>Answer:</a:t>
            </a:r>
          </a:p>
        </p:txBody>
      </p:sp>
      <p:sp>
        <p:nvSpPr>
          <p:cNvPr name="TextBox 6" id="6"/>
          <p:cNvSpPr txBox="true"/>
          <p:nvPr/>
        </p:nvSpPr>
        <p:spPr>
          <a:xfrm rot="0">
            <a:off x="1749180" y="4756150"/>
            <a:ext cx="5810622" cy="688975"/>
          </a:xfrm>
          <a:prstGeom prst="rect">
            <a:avLst/>
          </a:prstGeom>
        </p:spPr>
        <p:txBody>
          <a:bodyPr anchor="t" rtlCol="false" tIns="0" lIns="0" bIns="0" rIns="0">
            <a:spAutoFit/>
          </a:bodyPr>
          <a:lstStyle/>
          <a:p>
            <a:pPr algn="l">
              <a:lnSpc>
                <a:spcPts val="5599"/>
              </a:lnSpc>
            </a:pPr>
            <a:r>
              <a:rPr lang="en-US" sz="3999">
                <a:solidFill>
                  <a:srgbClr val="F6E7DA"/>
                </a:solidFill>
                <a:latin typeface="Cloud"/>
                <a:ea typeface="Cloud"/>
                <a:cs typeface="Cloud"/>
                <a:sym typeface="Cloud"/>
              </a:rPr>
              <a:t>Simplify the expression:</a:t>
            </a:r>
          </a:p>
        </p:txBody>
      </p:sp>
      <p:sp>
        <p:nvSpPr>
          <p:cNvPr name="TextBox 7" id="7"/>
          <p:cNvSpPr txBox="true"/>
          <p:nvPr/>
        </p:nvSpPr>
        <p:spPr>
          <a:xfrm rot="0">
            <a:off x="0" y="-208975"/>
            <a:ext cx="18288000" cy="12383770"/>
          </a:xfrm>
          <a:prstGeom prst="rect">
            <a:avLst/>
          </a:prstGeom>
        </p:spPr>
        <p:txBody>
          <a:bodyPr anchor="t" rtlCol="false" tIns="0" lIns="0" bIns="0" rIns="0">
            <a:spAutoFit/>
          </a:bodyPr>
          <a:lstStyle/>
          <a:p>
            <a:pPr algn="l">
              <a:lnSpc>
                <a:spcPts val="5269"/>
              </a:lnSpc>
            </a:pPr>
          </a:p>
          <a:p>
            <a:pPr algn="l">
              <a:lnSpc>
                <a:spcPts val="5269"/>
              </a:lnSpc>
            </a:pPr>
          </a:p>
          <a:p>
            <a:pPr algn="l">
              <a:lnSpc>
                <a:spcPts val="5269"/>
              </a:lnSpc>
            </a:pPr>
            <a:r>
              <a:rPr lang="en-US" sz="3399" b="true">
                <a:solidFill>
                  <a:srgbClr val="000000"/>
                </a:solidFill>
                <a:latin typeface="Canva Sans Bold"/>
                <a:ea typeface="Canva Sans Bold"/>
                <a:cs typeface="Canva Sans Bold"/>
                <a:sym typeface="Canva Sans Bold"/>
              </a:rPr>
              <a:t>The Objective: </a:t>
            </a:r>
            <a:r>
              <a:rPr lang="en-US" sz="3399">
                <a:solidFill>
                  <a:srgbClr val="000000"/>
                </a:solidFill>
                <a:latin typeface="Canva Sans"/>
                <a:ea typeface="Canva Sans"/>
                <a:cs typeface="Canva Sans"/>
                <a:sym typeface="Canva Sans"/>
              </a:rPr>
              <a:t>Our goal is to generate new data (for example, images) that looks similar to the training data.</a:t>
            </a:r>
          </a:p>
          <a:p>
            <a:pPr algn="l">
              <a:lnSpc>
                <a:spcPts val="5269"/>
              </a:lnSpc>
            </a:pPr>
            <a:r>
              <a:rPr lang="en-US" sz="3399">
                <a:solidFill>
                  <a:srgbClr val="000000"/>
                </a:solidFill>
                <a:latin typeface="Canva Sans"/>
                <a:ea typeface="Canva Sans"/>
                <a:cs typeface="Canva Sans"/>
                <a:sym typeface="Canva Sans"/>
              </a:rPr>
              <a:t>To achieve this, we must learn the true probability distribution of the data, denoted as:</a:t>
            </a:r>
          </a:p>
          <a:p>
            <a:pPr algn="l">
              <a:lnSpc>
                <a:spcPts val="6974"/>
              </a:lnSpc>
            </a:pPr>
            <a:r>
              <a:rPr lang="en-US" sz="4499">
                <a:solidFill>
                  <a:srgbClr val="000000"/>
                </a:solidFill>
                <a:latin typeface="Canva Sans"/>
                <a:ea typeface="Canva Sans"/>
                <a:cs typeface="Canva Sans"/>
                <a:sym typeface="Canva Sans"/>
              </a:rPr>
              <a:t>                                                   </a:t>
            </a:r>
            <a:r>
              <a:rPr lang="en-US" sz="4499" b="true">
                <a:solidFill>
                  <a:srgbClr val="000000"/>
                </a:solidFill>
                <a:latin typeface="Canva Sans Bold"/>
                <a:ea typeface="Canva Sans Bold"/>
                <a:cs typeface="Canva Sans Bold"/>
                <a:sym typeface="Canva Sans Bold"/>
              </a:rPr>
              <a:t>p(x)</a:t>
            </a:r>
          </a:p>
          <a:p>
            <a:pPr algn="l">
              <a:lnSpc>
                <a:spcPts val="6974"/>
              </a:lnSpc>
            </a:pPr>
            <a:r>
              <a:rPr lang="en-US" sz="4499" b="true">
                <a:solidFill>
                  <a:srgbClr val="000000"/>
                </a:solidFill>
                <a:latin typeface="Canva Sans Bold"/>
                <a:ea typeface="Canva Sans Bold"/>
                <a:cs typeface="Canva Sans Bold"/>
                <a:sym typeface="Canva Sans Bold"/>
              </a:rPr>
              <a:t>The Latent Variable (z)</a:t>
            </a:r>
          </a:p>
          <a:p>
            <a:pPr algn="l">
              <a:lnSpc>
                <a:spcPts val="5269"/>
              </a:lnSpc>
            </a:pPr>
            <a:r>
              <a:rPr lang="en-US" sz="3399">
                <a:solidFill>
                  <a:srgbClr val="000000"/>
                </a:solidFill>
                <a:latin typeface="Canva Sans"/>
                <a:ea typeface="Canva Sans"/>
                <a:cs typeface="Canva Sans"/>
                <a:sym typeface="Canva Sans"/>
              </a:rPr>
              <a:t>We assume that the observed data </a:t>
            </a:r>
            <a:r>
              <a:rPr lang="en-US" sz="3399" b="true">
                <a:solidFill>
                  <a:srgbClr val="000000"/>
                </a:solidFill>
                <a:latin typeface="Canva Sans Bold"/>
                <a:ea typeface="Canva Sans Bold"/>
                <a:cs typeface="Canva Sans Bold"/>
                <a:sym typeface="Canva Sans Bold"/>
              </a:rPr>
              <a:t>x</a:t>
            </a:r>
            <a:r>
              <a:rPr lang="en-US" sz="3399">
                <a:solidFill>
                  <a:srgbClr val="000000"/>
                </a:solidFill>
                <a:latin typeface="Canva Sans"/>
                <a:ea typeface="Canva Sans"/>
                <a:cs typeface="Canva Sans"/>
                <a:sym typeface="Canva Sans"/>
              </a:rPr>
              <a:t> is produced by a hidden (latent) variable called </a:t>
            </a:r>
            <a:r>
              <a:rPr lang="en-US" sz="3399" b="true">
                <a:solidFill>
                  <a:srgbClr val="000000"/>
                </a:solidFill>
                <a:latin typeface="Canva Sans Bold"/>
                <a:ea typeface="Canva Sans Bold"/>
                <a:cs typeface="Canva Sans Bold"/>
                <a:sym typeface="Canva Sans Bold"/>
              </a:rPr>
              <a:t>z</a:t>
            </a:r>
            <a:r>
              <a:rPr lang="en-US" sz="3399">
                <a:solidFill>
                  <a:srgbClr val="000000"/>
                </a:solidFill>
                <a:latin typeface="Canva Sans"/>
                <a:ea typeface="Canva Sans"/>
                <a:cs typeface="Canva Sans"/>
                <a:sym typeface="Canva Sans"/>
              </a:rPr>
              <a:t>.</a:t>
            </a:r>
          </a:p>
          <a:p>
            <a:pPr algn="l">
              <a:lnSpc>
                <a:spcPts val="5269"/>
              </a:lnSpc>
            </a:pPr>
            <a:r>
              <a:rPr lang="en-US" sz="3399">
                <a:solidFill>
                  <a:srgbClr val="000000"/>
                </a:solidFill>
                <a:latin typeface="Canva Sans"/>
                <a:ea typeface="Canva Sans"/>
                <a:cs typeface="Canva Sans"/>
                <a:sym typeface="Canva Sans"/>
              </a:rPr>
              <a:t> • x = visible data (image, text, etc.)</a:t>
            </a:r>
          </a:p>
          <a:p>
            <a:pPr algn="l">
              <a:lnSpc>
                <a:spcPts val="5269"/>
              </a:lnSpc>
            </a:pPr>
            <a:r>
              <a:rPr lang="en-US" sz="3399">
                <a:solidFill>
                  <a:srgbClr val="000000"/>
                </a:solidFill>
                <a:latin typeface="Canva Sans"/>
                <a:ea typeface="Canva Sans"/>
                <a:cs typeface="Canva Sans"/>
                <a:sym typeface="Canva Sans"/>
              </a:rPr>
              <a:t> • z = hidden factors that describe the data</a:t>
            </a:r>
          </a:p>
          <a:p>
            <a:pPr algn="l">
              <a:lnSpc>
                <a:spcPts val="5269"/>
              </a:lnSpc>
            </a:pPr>
            <a:r>
              <a:rPr lang="en-US" sz="3399">
                <a:solidFill>
                  <a:srgbClr val="000000"/>
                </a:solidFill>
                <a:latin typeface="Canva Sans"/>
                <a:ea typeface="Canva Sans"/>
                <a:cs typeface="Canva Sans"/>
                <a:sym typeface="Canva Sans"/>
              </a:rPr>
              <a:t>Example</a:t>
            </a:r>
          </a:p>
          <a:p>
            <a:pPr algn="l">
              <a:lnSpc>
                <a:spcPts val="5269"/>
              </a:lnSpc>
            </a:pPr>
            <a:r>
              <a:rPr lang="en-US" sz="3399">
                <a:solidFill>
                  <a:srgbClr val="000000"/>
                </a:solidFill>
                <a:latin typeface="Canva Sans"/>
                <a:ea typeface="Canva Sans"/>
                <a:cs typeface="Canva Sans"/>
                <a:sym typeface="Canva Sans"/>
              </a:rPr>
              <a:t>If x is an image of a handwritten digit:</a:t>
            </a:r>
          </a:p>
          <a:p>
            <a:pPr algn="l">
              <a:lnSpc>
                <a:spcPts val="5269"/>
              </a:lnSpc>
            </a:pPr>
            <a:r>
              <a:rPr lang="en-US" sz="3399">
                <a:solidFill>
                  <a:srgbClr val="000000"/>
                </a:solidFill>
                <a:latin typeface="Canva Sans"/>
                <a:ea typeface="Canva Sans"/>
                <a:cs typeface="Canva Sans"/>
                <a:sym typeface="Canva Sans"/>
              </a:rPr>
              <a:t> • z represents the underlying concept, such as:</a:t>
            </a:r>
          </a:p>
          <a:p>
            <a:pPr algn="l">
              <a:lnSpc>
                <a:spcPts val="5269"/>
              </a:lnSpc>
            </a:pPr>
            <a:r>
              <a:rPr lang="en-US" sz="3399">
                <a:solidFill>
                  <a:srgbClr val="000000"/>
                </a:solidFill>
                <a:latin typeface="Canva Sans"/>
                <a:ea typeface="Canva Sans"/>
                <a:cs typeface="Canva Sans"/>
                <a:sym typeface="Canva Sans"/>
              </a:rPr>
              <a:t> • the digit identity (e.g., number 5)</a:t>
            </a:r>
          </a:p>
          <a:p>
            <a:pPr algn="l">
              <a:lnSpc>
                <a:spcPts val="5269"/>
              </a:lnSpc>
            </a:pPr>
            <a:r>
              <a:rPr lang="en-US" sz="3399">
                <a:solidFill>
                  <a:srgbClr val="000000"/>
                </a:solidFill>
                <a:latin typeface="Canva Sans"/>
                <a:ea typeface="Canva Sans"/>
                <a:cs typeface="Canva Sans"/>
                <a:sym typeface="Canva Sans"/>
              </a:rPr>
              <a:t> • style information (tilted, thick strokes, size)</a:t>
            </a:r>
          </a:p>
          <a:p>
            <a:pPr algn="l">
              <a:lnSpc>
                <a:spcPts val="5269"/>
              </a:lnSpc>
            </a:pPr>
          </a:p>
          <a:p>
            <a:pPr algn="l">
              <a:lnSpc>
                <a:spcPts val="5269"/>
              </a:lnSpc>
            </a:pPr>
          </a:p>
          <a:p>
            <a:pPr algn="l">
              <a:lnSpc>
                <a:spcPts val="5269"/>
              </a:lnSpc>
            </a:pPr>
          </a:p>
        </p:txBody>
      </p:sp>
      <p:sp>
        <p:nvSpPr>
          <p:cNvPr name="TextBox 8" id="8"/>
          <p:cNvSpPr txBox="true"/>
          <p:nvPr/>
        </p:nvSpPr>
        <p:spPr>
          <a:xfrm rot="0">
            <a:off x="4846029" y="141605"/>
            <a:ext cx="5859214"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Maths behind VAE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E7DA"/>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2896052" y="5499317"/>
            <a:ext cx="3023962" cy="1081487"/>
          </a:xfrm>
          <a:prstGeom prst="rect">
            <a:avLst/>
          </a:prstGeom>
        </p:spPr>
      </p:pic>
      <p:sp>
        <p:nvSpPr>
          <p:cNvPr name="TextBox 3" id="3"/>
          <p:cNvSpPr txBox="true"/>
          <p:nvPr/>
        </p:nvSpPr>
        <p:spPr>
          <a:xfrm rot="0">
            <a:off x="1749180" y="4756150"/>
            <a:ext cx="5810622" cy="688975"/>
          </a:xfrm>
          <a:prstGeom prst="rect">
            <a:avLst/>
          </a:prstGeom>
        </p:spPr>
        <p:txBody>
          <a:bodyPr anchor="t" rtlCol="false" tIns="0" lIns="0" bIns="0" rIns="0">
            <a:spAutoFit/>
          </a:bodyPr>
          <a:lstStyle/>
          <a:p>
            <a:pPr algn="l">
              <a:lnSpc>
                <a:spcPts val="5599"/>
              </a:lnSpc>
            </a:pPr>
            <a:r>
              <a:rPr lang="en-US" sz="3999">
                <a:solidFill>
                  <a:srgbClr val="F6E7DA"/>
                </a:solidFill>
                <a:latin typeface="Cloud"/>
                <a:ea typeface="Cloud"/>
                <a:cs typeface="Cloud"/>
                <a:sym typeface="Cloud"/>
              </a:rPr>
              <a:t>Simplify the expression:</a:t>
            </a:r>
          </a:p>
        </p:txBody>
      </p:sp>
      <p:pic>
        <p:nvPicPr>
          <p:cNvPr name="Picture 4" id="4"/>
          <p:cNvPicPr>
            <a:picLocks noChangeAspect="true"/>
          </p:cNvPicPr>
          <p:nvPr/>
        </p:nvPicPr>
        <p:blipFill>
          <a:blip r:embed="rId3"/>
          <a:stretch>
            <a:fillRect/>
          </a:stretch>
        </p:blipFill>
        <p:spPr>
          <a:xfrm rot="0">
            <a:off x="12897700" y="7295502"/>
            <a:ext cx="1259984" cy="787490"/>
          </a:xfrm>
          <a:prstGeom prst="rect">
            <a:avLst/>
          </a:prstGeom>
        </p:spPr>
      </p:pic>
      <p:sp>
        <p:nvSpPr>
          <p:cNvPr name="TextBox 5" id="5"/>
          <p:cNvSpPr txBox="true"/>
          <p:nvPr/>
        </p:nvSpPr>
        <p:spPr>
          <a:xfrm rot="0">
            <a:off x="0" y="-438150"/>
            <a:ext cx="18148376" cy="11271887"/>
          </a:xfrm>
          <a:prstGeom prst="rect">
            <a:avLst/>
          </a:prstGeom>
        </p:spPr>
        <p:txBody>
          <a:bodyPr anchor="t" rtlCol="false" tIns="0" lIns="0" bIns="0" rIns="0">
            <a:spAutoFit/>
          </a:bodyPr>
          <a:lstStyle/>
          <a:p>
            <a:pPr algn="l">
              <a:lnSpc>
                <a:spcPts val="9899"/>
              </a:lnSpc>
            </a:pPr>
            <a:r>
              <a:rPr lang="en-US" sz="4399" b="true">
                <a:solidFill>
                  <a:srgbClr val="000000"/>
                </a:solidFill>
                <a:latin typeface="Canva Sans Bold"/>
                <a:ea typeface="Canva Sans Bold"/>
                <a:cs typeface="Canva Sans Bold"/>
                <a:sym typeface="Canva Sans Bold"/>
              </a:rPr>
              <a:t>The Generative Process</a:t>
            </a:r>
          </a:p>
          <a:p>
            <a:pPr algn="l">
              <a:lnSpc>
                <a:spcPts val="7649"/>
              </a:lnSpc>
            </a:pPr>
            <a:r>
              <a:rPr lang="en-US" sz="3399">
                <a:solidFill>
                  <a:srgbClr val="000000"/>
                </a:solidFill>
                <a:latin typeface="Canva Sans"/>
                <a:ea typeface="Canva Sans"/>
                <a:cs typeface="Canva Sans"/>
                <a:sym typeface="Canva Sans"/>
              </a:rPr>
              <a:t>The VAE assumes data is generated in two steps:</a:t>
            </a:r>
          </a:p>
          <a:p>
            <a:pPr algn="l">
              <a:lnSpc>
                <a:spcPts val="7649"/>
              </a:lnSpc>
            </a:pPr>
            <a:r>
              <a:rPr lang="en-US" sz="3399" b="true">
                <a:solidFill>
                  <a:srgbClr val="000000"/>
                </a:solidFill>
                <a:latin typeface="Canva Sans Bold"/>
                <a:ea typeface="Canva Sans Bold"/>
                <a:cs typeface="Canva Sans Bold"/>
                <a:sym typeface="Canva Sans Bold"/>
              </a:rPr>
              <a:t>Step 1: Sample the Latent Code</a:t>
            </a:r>
          </a:p>
          <a:p>
            <a:pPr algn="l">
              <a:lnSpc>
                <a:spcPts val="7649"/>
              </a:lnSpc>
            </a:pPr>
            <a:r>
              <a:rPr lang="en-US" sz="3399">
                <a:solidFill>
                  <a:srgbClr val="000000"/>
                </a:solidFill>
                <a:latin typeface="Canva Sans"/>
                <a:ea typeface="Canva Sans"/>
                <a:cs typeface="Canva Sans"/>
                <a:sym typeface="Canva Sans"/>
              </a:rPr>
              <a:t>We sample a latent variable from a prior distribution:</a:t>
            </a:r>
          </a:p>
          <a:p>
            <a:pPr algn="l">
              <a:lnSpc>
                <a:spcPts val="9449"/>
              </a:lnSpc>
            </a:pPr>
            <a:r>
              <a:rPr lang="en-US" sz="4199">
                <a:solidFill>
                  <a:srgbClr val="000000"/>
                </a:solidFill>
                <a:latin typeface="Canva Sans"/>
                <a:ea typeface="Canva Sans"/>
                <a:cs typeface="Canva Sans"/>
                <a:sym typeface="Canva Sans"/>
              </a:rPr>
              <a:t>                                                 </a:t>
            </a:r>
            <a:r>
              <a:rPr lang="en-US" sz="4199" b="true">
                <a:solidFill>
                  <a:srgbClr val="000000"/>
                </a:solidFill>
                <a:latin typeface="Canva Sans Bold"/>
                <a:ea typeface="Canva Sans Bold"/>
                <a:cs typeface="Canva Sans Bold"/>
                <a:sym typeface="Canva Sans Bold"/>
              </a:rPr>
              <a:t> </a:t>
            </a:r>
            <a:r>
              <a:rPr lang="en-US" sz="4199" b="true">
                <a:solidFill>
                  <a:srgbClr val="000000"/>
                </a:solidFill>
                <a:latin typeface="Canva Sans Bold"/>
                <a:ea typeface="Canva Sans Bold"/>
                <a:cs typeface="Canva Sans Bold"/>
                <a:sym typeface="Canva Sans Bold"/>
              </a:rPr>
              <a:t>z ~ p(z)</a:t>
            </a:r>
          </a:p>
          <a:p>
            <a:pPr algn="l">
              <a:lnSpc>
                <a:spcPts val="7649"/>
              </a:lnSpc>
            </a:pPr>
            <a:r>
              <a:rPr lang="en-US" sz="3399">
                <a:solidFill>
                  <a:srgbClr val="000000"/>
                </a:solidFill>
                <a:latin typeface="Canva Sans"/>
                <a:ea typeface="Canva Sans"/>
                <a:cs typeface="Canva Sans"/>
                <a:sym typeface="Canva Sans"/>
              </a:rPr>
              <a:t>(</a:t>
            </a:r>
            <a:r>
              <a:rPr lang="en-US" sz="3399">
                <a:solidFill>
                  <a:srgbClr val="000000"/>
                </a:solidFill>
                <a:latin typeface="Canva Sans"/>
                <a:ea typeface="Canva Sans"/>
                <a:cs typeface="Canva Sans"/>
                <a:sym typeface="Canva Sans"/>
              </a:rPr>
              <a:t>Usually p(z) is a standard normal distribution)</a:t>
            </a:r>
          </a:p>
          <a:p>
            <a:pPr algn="l">
              <a:lnSpc>
                <a:spcPts val="7649"/>
              </a:lnSpc>
            </a:pPr>
            <a:r>
              <a:rPr lang="en-US" sz="3399" b="true">
                <a:solidFill>
                  <a:srgbClr val="000000"/>
                </a:solidFill>
                <a:latin typeface="Canva Sans Bold"/>
                <a:ea typeface="Canva Sans Bold"/>
                <a:cs typeface="Canva Sans Bold"/>
                <a:sym typeface="Canva Sans Bold"/>
              </a:rPr>
              <a:t>Step 2: Generate the Data</a:t>
            </a:r>
          </a:p>
          <a:p>
            <a:pPr algn="l">
              <a:lnSpc>
                <a:spcPts val="7649"/>
              </a:lnSpc>
            </a:pPr>
            <a:r>
              <a:rPr lang="en-US" sz="3399">
                <a:solidFill>
                  <a:srgbClr val="000000"/>
                </a:solidFill>
                <a:latin typeface="Canva Sans"/>
                <a:ea typeface="Canva Sans"/>
                <a:cs typeface="Canva Sans"/>
                <a:sym typeface="Canva Sans"/>
              </a:rPr>
              <a:t>Using the sampled latent variable, we generate the data  </a:t>
            </a:r>
            <a:r>
              <a:rPr lang="en-US" sz="3399" b="true">
                <a:solidFill>
                  <a:srgbClr val="000000"/>
                </a:solidFill>
                <a:latin typeface="Canva Sans Bold"/>
                <a:ea typeface="Canva Sans Bold"/>
                <a:cs typeface="Canva Sans Bold"/>
                <a:sym typeface="Canva Sans Bold"/>
              </a:rPr>
              <a:t>x</a:t>
            </a:r>
            <a:r>
              <a:rPr lang="en-US" sz="3399">
                <a:solidFill>
                  <a:srgbClr val="000000"/>
                </a:solidFill>
                <a:latin typeface="Canva Sans"/>
                <a:ea typeface="Canva Sans"/>
                <a:cs typeface="Canva Sans"/>
                <a:sym typeface="Canva Sans"/>
              </a:rPr>
              <a:t> :</a:t>
            </a:r>
          </a:p>
          <a:p>
            <a:pPr algn="l">
              <a:lnSpc>
                <a:spcPts val="9674"/>
              </a:lnSpc>
            </a:pPr>
            <a:r>
              <a:rPr lang="en-US" sz="4299">
                <a:solidFill>
                  <a:srgbClr val="000000"/>
                </a:solidFill>
                <a:latin typeface="Canva Sans"/>
                <a:ea typeface="Canva Sans"/>
                <a:cs typeface="Canva Sans"/>
                <a:sym typeface="Canva Sans"/>
              </a:rPr>
              <a:t>                                               </a:t>
            </a:r>
            <a:r>
              <a:rPr lang="en-US" sz="4299" b="true">
                <a:solidFill>
                  <a:srgbClr val="000000"/>
                </a:solidFill>
                <a:latin typeface="Canva Sans Bold"/>
                <a:ea typeface="Canva Sans Bold"/>
                <a:cs typeface="Canva Sans Bold"/>
                <a:sym typeface="Canva Sans Bold"/>
              </a:rPr>
              <a:t> </a:t>
            </a:r>
            <a:r>
              <a:rPr lang="en-US" sz="4299" b="true">
                <a:solidFill>
                  <a:srgbClr val="000000"/>
                </a:solidFill>
                <a:latin typeface="Canva Sans Bold"/>
                <a:ea typeface="Canva Sans Bold"/>
                <a:cs typeface="Canva Sans Bold"/>
                <a:sym typeface="Canva Sans Bold"/>
              </a:rPr>
              <a:t>x ~ p(x | z)</a:t>
            </a:r>
          </a:p>
          <a:p>
            <a:pPr algn="l">
              <a:lnSpc>
                <a:spcPts val="7649"/>
              </a:lnSpc>
            </a:pPr>
          </a:p>
          <a:p>
            <a:pPr algn="l">
              <a:lnSpc>
                <a:spcPts val="764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E7DA"/>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2077062" y="5362819"/>
            <a:ext cx="4661941" cy="1354483"/>
          </a:xfrm>
          <a:prstGeom prst="rect">
            <a:avLst/>
          </a:prstGeom>
        </p:spPr>
      </p:pic>
      <p:sp>
        <p:nvSpPr>
          <p:cNvPr name="TextBox 3" id="3"/>
          <p:cNvSpPr txBox="true"/>
          <p:nvPr/>
        </p:nvSpPr>
        <p:spPr>
          <a:xfrm rot="0">
            <a:off x="1749180" y="4756150"/>
            <a:ext cx="5810622" cy="688975"/>
          </a:xfrm>
          <a:prstGeom prst="rect">
            <a:avLst/>
          </a:prstGeom>
        </p:spPr>
        <p:txBody>
          <a:bodyPr anchor="t" rtlCol="false" tIns="0" lIns="0" bIns="0" rIns="0">
            <a:spAutoFit/>
          </a:bodyPr>
          <a:lstStyle/>
          <a:p>
            <a:pPr algn="l">
              <a:lnSpc>
                <a:spcPts val="5599"/>
              </a:lnSpc>
            </a:pPr>
            <a:r>
              <a:rPr lang="en-US" sz="3999">
                <a:solidFill>
                  <a:srgbClr val="F6E7DA"/>
                </a:solidFill>
                <a:latin typeface="Cloud"/>
                <a:ea typeface="Cloud"/>
                <a:cs typeface="Cloud"/>
                <a:sym typeface="Cloud"/>
              </a:rPr>
              <a:t>Simplify the expression:</a:t>
            </a:r>
          </a:p>
        </p:txBody>
      </p:sp>
      <p:pic>
        <p:nvPicPr>
          <p:cNvPr name="Picture 4" id="4"/>
          <p:cNvPicPr>
            <a:picLocks noChangeAspect="true"/>
          </p:cNvPicPr>
          <p:nvPr/>
        </p:nvPicPr>
        <p:blipFill>
          <a:blip r:embed="rId3"/>
          <a:stretch>
            <a:fillRect/>
          </a:stretch>
        </p:blipFill>
        <p:spPr>
          <a:xfrm rot="0">
            <a:off x="12897700" y="4795480"/>
            <a:ext cx="1259984" cy="787490"/>
          </a:xfrm>
          <a:prstGeom prst="rect">
            <a:avLst/>
          </a:prstGeom>
        </p:spPr>
      </p:pic>
      <p:sp>
        <p:nvSpPr>
          <p:cNvPr name="TextBox 5" id="5"/>
          <p:cNvSpPr txBox="true"/>
          <p:nvPr/>
        </p:nvSpPr>
        <p:spPr>
          <a:xfrm rot="0">
            <a:off x="120061" y="64416"/>
            <a:ext cx="18042321" cy="10008908"/>
          </a:xfrm>
          <a:prstGeom prst="rect">
            <a:avLst/>
          </a:prstGeom>
        </p:spPr>
        <p:txBody>
          <a:bodyPr anchor="t" rtlCol="false" tIns="0" lIns="0" bIns="0" rIns="0">
            <a:spAutoFit/>
          </a:bodyPr>
          <a:lstStyle/>
          <a:p>
            <a:pPr algn="l">
              <a:lnSpc>
                <a:spcPts val="4827"/>
              </a:lnSpc>
            </a:pPr>
            <a:r>
              <a:rPr lang="en-US" sz="3448" b="true">
                <a:solidFill>
                  <a:srgbClr val="000000"/>
                </a:solidFill>
                <a:latin typeface="Canva Sans Bold"/>
                <a:ea typeface="Canva Sans Bold"/>
                <a:cs typeface="Canva Sans Bold"/>
                <a:sym typeface="Canva Sans Bold"/>
              </a:rPr>
              <a:t>                                                     The Mathematical Problem</a:t>
            </a:r>
          </a:p>
          <a:p>
            <a:pPr algn="l">
              <a:lnSpc>
                <a:spcPts val="4827"/>
              </a:lnSpc>
            </a:pPr>
            <a:r>
              <a:rPr lang="en-US" sz="3448">
                <a:solidFill>
                  <a:srgbClr val="000000"/>
                </a:solidFill>
                <a:latin typeface="Canva Sans"/>
                <a:ea typeface="Canva Sans"/>
                <a:cs typeface="Canva Sans"/>
                <a:sym typeface="Canva Sans"/>
              </a:rPr>
              <a:t>The Goal:</a:t>
            </a:r>
          </a:p>
          <a:p>
            <a:pPr algn="l">
              <a:lnSpc>
                <a:spcPts val="4827"/>
              </a:lnSpc>
            </a:pPr>
            <a:r>
              <a:rPr lang="en-US" sz="3448">
                <a:solidFill>
                  <a:srgbClr val="000000"/>
                </a:solidFill>
                <a:latin typeface="Canva Sans"/>
                <a:ea typeface="Canva Sans"/>
                <a:cs typeface="Canva Sans"/>
                <a:sym typeface="Canva Sans"/>
              </a:rPr>
              <a:t>We want to find the posterior distribution:</a:t>
            </a:r>
          </a:p>
          <a:p>
            <a:pPr algn="l">
              <a:lnSpc>
                <a:spcPts val="4827"/>
              </a:lnSpc>
            </a:pPr>
          </a:p>
          <a:p>
            <a:pPr algn="l">
              <a:lnSpc>
                <a:spcPts val="6367"/>
              </a:lnSpc>
            </a:pPr>
            <a:r>
              <a:rPr lang="en-US" sz="4548">
                <a:solidFill>
                  <a:srgbClr val="000000"/>
                </a:solidFill>
                <a:latin typeface="Canva Sans"/>
                <a:ea typeface="Canva Sans"/>
                <a:cs typeface="Canva Sans"/>
                <a:sym typeface="Canva Sans"/>
              </a:rPr>
              <a:t>                                               </a:t>
            </a:r>
          </a:p>
          <a:p>
            <a:pPr algn="l">
              <a:lnSpc>
                <a:spcPts val="4827"/>
              </a:lnSpc>
            </a:pPr>
            <a:r>
              <a:rPr lang="en-US" sz="3448">
                <a:solidFill>
                  <a:srgbClr val="000000"/>
                </a:solidFill>
                <a:latin typeface="Canva Sans"/>
                <a:ea typeface="Canva Sans"/>
                <a:cs typeface="Canva Sans"/>
                <a:sym typeface="Canva Sans"/>
              </a:rPr>
              <a:t>Meaning:“Given this specific data point x (for example, an image),what is the exact hidden variable z that produced it?”</a:t>
            </a:r>
          </a:p>
          <a:p>
            <a:pPr algn="l">
              <a:lnSpc>
                <a:spcPts val="4827"/>
              </a:lnSpc>
            </a:pPr>
            <a:r>
              <a:rPr lang="en-US" sz="3448" b="true">
                <a:solidFill>
                  <a:srgbClr val="000000"/>
                </a:solidFill>
                <a:latin typeface="Canva Sans Bold"/>
                <a:ea typeface="Canva Sans Bold"/>
                <a:cs typeface="Canva Sans Bold"/>
                <a:sym typeface="Canva Sans Bold"/>
              </a:rPr>
              <a:t>Bayes’ Theorem:</a:t>
            </a:r>
          </a:p>
          <a:p>
            <a:pPr algn="l">
              <a:lnSpc>
                <a:spcPts val="4827"/>
              </a:lnSpc>
            </a:pPr>
            <a:r>
              <a:rPr lang="en-US" sz="3448">
                <a:solidFill>
                  <a:srgbClr val="000000"/>
                </a:solidFill>
                <a:latin typeface="Canva Sans"/>
                <a:ea typeface="Canva Sans"/>
                <a:cs typeface="Canva Sans"/>
                <a:sym typeface="Canva Sans"/>
              </a:rPr>
              <a:t>Using Bayes’ rule, the posterior is written as:</a:t>
            </a:r>
          </a:p>
          <a:p>
            <a:pPr algn="l">
              <a:lnSpc>
                <a:spcPts val="5527"/>
              </a:lnSpc>
            </a:pPr>
            <a:r>
              <a:rPr lang="en-US" sz="3948">
                <a:solidFill>
                  <a:srgbClr val="000000"/>
                </a:solidFill>
                <a:latin typeface="Canva Sans"/>
                <a:ea typeface="Canva Sans"/>
                <a:cs typeface="Canva Sans"/>
                <a:sym typeface="Canva Sans"/>
              </a:rPr>
              <a:t>                                                   </a:t>
            </a:r>
          </a:p>
          <a:p>
            <a:pPr algn="l">
              <a:lnSpc>
                <a:spcPts val="4827"/>
              </a:lnSpc>
            </a:pPr>
            <a:r>
              <a:rPr lang="en-US" sz="3448">
                <a:solidFill>
                  <a:srgbClr val="000000"/>
                </a:solidFill>
                <a:latin typeface="Canva Sans"/>
                <a:ea typeface="Canva Sans"/>
                <a:cs typeface="Canva Sans"/>
                <a:sym typeface="Canva Sans"/>
              </a:rPr>
              <a:t>Where:</a:t>
            </a:r>
          </a:p>
          <a:p>
            <a:pPr algn="l">
              <a:lnSpc>
                <a:spcPts val="4827"/>
              </a:lnSpc>
            </a:pPr>
            <a:r>
              <a:rPr lang="en-US" sz="3448">
                <a:solidFill>
                  <a:srgbClr val="000000"/>
                </a:solidFill>
                <a:latin typeface="Canva Sans"/>
                <a:ea typeface="Canva Sans"/>
                <a:cs typeface="Canva Sans"/>
                <a:sym typeface="Canva Sans"/>
              </a:rPr>
              <a:t> • p(z | x) → posterior (what we want)</a:t>
            </a:r>
          </a:p>
          <a:p>
            <a:pPr algn="l">
              <a:lnSpc>
                <a:spcPts val="4827"/>
              </a:lnSpc>
            </a:pPr>
            <a:r>
              <a:rPr lang="en-US" sz="3448">
                <a:solidFill>
                  <a:srgbClr val="000000"/>
                </a:solidFill>
                <a:latin typeface="Canva Sans"/>
                <a:ea typeface="Canva Sans"/>
                <a:cs typeface="Canva Sans"/>
                <a:sym typeface="Canva Sans"/>
              </a:rPr>
              <a:t> • p(x | z) → likelihood</a:t>
            </a:r>
          </a:p>
          <a:p>
            <a:pPr algn="l">
              <a:lnSpc>
                <a:spcPts val="4827"/>
              </a:lnSpc>
            </a:pPr>
            <a:r>
              <a:rPr lang="en-US" sz="3448">
                <a:solidFill>
                  <a:srgbClr val="000000"/>
                </a:solidFill>
                <a:latin typeface="Canva Sans"/>
                <a:ea typeface="Canva Sans"/>
                <a:cs typeface="Canva Sans"/>
                <a:sym typeface="Canva Sans"/>
              </a:rPr>
              <a:t> • p(z) → prior</a:t>
            </a:r>
          </a:p>
          <a:p>
            <a:pPr algn="l">
              <a:lnSpc>
                <a:spcPts val="4827"/>
              </a:lnSpc>
            </a:pPr>
            <a:r>
              <a:rPr lang="en-US" sz="3448">
                <a:solidFill>
                  <a:srgbClr val="000000"/>
                </a:solidFill>
                <a:latin typeface="Canva Sans"/>
                <a:ea typeface="Canva Sans"/>
                <a:cs typeface="Canva Sans"/>
                <a:sym typeface="Canva Sans"/>
              </a:rPr>
              <a:t> • p(x) → evidence (normalization term)</a:t>
            </a:r>
          </a:p>
          <a:p>
            <a:pPr algn="l">
              <a:lnSpc>
                <a:spcPts val="4827"/>
              </a:lnSpc>
            </a:pPr>
          </a:p>
        </p:txBody>
      </p:sp>
      <p:pic>
        <p:nvPicPr>
          <p:cNvPr name="Picture 6" id="6"/>
          <p:cNvPicPr>
            <a:picLocks noChangeAspect="true"/>
          </p:cNvPicPr>
          <p:nvPr/>
        </p:nvPicPr>
        <p:blipFill>
          <a:blip r:embed="rId4"/>
          <a:stretch>
            <a:fillRect/>
          </a:stretch>
        </p:blipFill>
        <p:spPr>
          <a:xfrm rot="0">
            <a:off x="6033999" y="5254333"/>
            <a:ext cx="5963773" cy="2196890"/>
          </a:xfrm>
          <a:prstGeom prst="rect">
            <a:avLst/>
          </a:prstGeom>
        </p:spPr>
      </p:pic>
      <p:pic>
        <p:nvPicPr>
          <p:cNvPr name="Picture 7" id="7"/>
          <p:cNvPicPr>
            <a:picLocks noChangeAspect="true"/>
          </p:cNvPicPr>
          <p:nvPr/>
        </p:nvPicPr>
        <p:blipFill>
          <a:blip r:embed="rId5"/>
          <a:stretch>
            <a:fillRect/>
          </a:stretch>
        </p:blipFill>
        <p:spPr>
          <a:xfrm rot="0">
            <a:off x="5864564" y="1835804"/>
            <a:ext cx="2006500" cy="979236"/>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E7DA"/>
        </a:solidFill>
      </p:bgPr>
    </p:bg>
    <p:spTree>
      <p:nvGrpSpPr>
        <p:cNvPr id="1" name=""/>
        <p:cNvGrpSpPr/>
        <p:nvPr/>
      </p:nvGrpSpPr>
      <p:grpSpPr>
        <a:xfrm>
          <a:off x="0" y="0"/>
          <a:ext cx="0" cy="0"/>
          <a:chOff x="0" y="0"/>
          <a:chExt cx="0" cy="0"/>
        </a:xfrm>
      </p:grpSpPr>
      <p:sp>
        <p:nvSpPr>
          <p:cNvPr name="TextBox 2" id="2"/>
          <p:cNvSpPr txBox="true"/>
          <p:nvPr/>
        </p:nvSpPr>
        <p:spPr>
          <a:xfrm rot="0">
            <a:off x="1616043" y="3033620"/>
            <a:ext cx="5768223" cy="1069976"/>
          </a:xfrm>
          <a:prstGeom prst="rect">
            <a:avLst/>
          </a:prstGeom>
        </p:spPr>
        <p:txBody>
          <a:bodyPr anchor="t" rtlCol="false" tIns="0" lIns="0" bIns="0" rIns="0">
            <a:spAutoFit/>
          </a:bodyPr>
          <a:lstStyle/>
          <a:p>
            <a:pPr algn="ctr">
              <a:lnSpc>
                <a:spcPts val="8000"/>
              </a:lnSpc>
            </a:pPr>
            <a:r>
              <a:rPr lang="en-US" sz="8000" spc="208">
                <a:solidFill>
                  <a:srgbClr val="F6E7DA"/>
                </a:solidFill>
                <a:latin typeface="Londrina Solid"/>
                <a:ea typeface="Londrina Solid"/>
                <a:cs typeface="Londrina Solid"/>
                <a:sym typeface="Londrina Solid"/>
              </a:rPr>
              <a:t>Answer</a:t>
            </a:r>
          </a:p>
        </p:txBody>
      </p:sp>
      <p:pic>
        <p:nvPicPr>
          <p:cNvPr name="Picture 3" id="3"/>
          <p:cNvPicPr>
            <a:picLocks noChangeAspect="true"/>
          </p:cNvPicPr>
          <p:nvPr/>
        </p:nvPicPr>
        <p:blipFill>
          <a:blip r:embed="rId2"/>
          <a:stretch>
            <a:fillRect/>
          </a:stretch>
        </p:blipFill>
        <p:spPr>
          <a:xfrm rot="0">
            <a:off x="2896052" y="5499317"/>
            <a:ext cx="3023962" cy="1081487"/>
          </a:xfrm>
          <a:prstGeom prst="rect">
            <a:avLst/>
          </a:prstGeom>
        </p:spPr>
      </p:pic>
      <p:sp>
        <p:nvSpPr>
          <p:cNvPr name="TextBox 4" id="4"/>
          <p:cNvSpPr txBox="true"/>
          <p:nvPr/>
        </p:nvSpPr>
        <p:spPr>
          <a:xfrm rot="0">
            <a:off x="1749180" y="4756150"/>
            <a:ext cx="5810622" cy="688975"/>
          </a:xfrm>
          <a:prstGeom prst="rect">
            <a:avLst/>
          </a:prstGeom>
        </p:spPr>
        <p:txBody>
          <a:bodyPr anchor="t" rtlCol="false" tIns="0" lIns="0" bIns="0" rIns="0">
            <a:spAutoFit/>
          </a:bodyPr>
          <a:lstStyle/>
          <a:p>
            <a:pPr algn="l">
              <a:lnSpc>
                <a:spcPts val="5599"/>
              </a:lnSpc>
            </a:pPr>
            <a:r>
              <a:rPr lang="en-US" sz="3999">
                <a:solidFill>
                  <a:srgbClr val="F6E7DA"/>
                </a:solidFill>
                <a:latin typeface="Cloud"/>
                <a:ea typeface="Cloud"/>
                <a:cs typeface="Cloud"/>
                <a:sym typeface="Cloud"/>
              </a:rPr>
              <a:t>Simplify the expression:</a:t>
            </a:r>
          </a:p>
        </p:txBody>
      </p:sp>
      <p:sp>
        <p:nvSpPr>
          <p:cNvPr name="TextBox 5" id="5"/>
          <p:cNvSpPr txBox="true"/>
          <p:nvPr/>
        </p:nvSpPr>
        <p:spPr>
          <a:xfrm rot="0">
            <a:off x="0" y="-66675"/>
            <a:ext cx="18149870" cy="10610867"/>
          </a:xfrm>
          <a:prstGeom prst="rect">
            <a:avLst/>
          </a:prstGeom>
        </p:spPr>
        <p:txBody>
          <a:bodyPr anchor="t" rtlCol="false" tIns="0" lIns="0" bIns="0" rIns="0">
            <a:spAutoFit/>
          </a:bodyPr>
          <a:lstStyle/>
          <a:p>
            <a:pPr algn="just">
              <a:lnSpc>
                <a:spcPts val="4724"/>
              </a:lnSpc>
            </a:pPr>
            <a:r>
              <a:rPr lang="en-US" b="true" sz="3374">
                <a:solidFill>
                  <a:srgbClr val="000000"/>
                </a:solidFill>
                <a:latin typeface="Canva Sans Bold"/>
                <a:ea typeface="Canva Sans Bold"/>
                <a:cs typeface="Canva Sans Bold"/>
                <a:sym typeface="Canva Sans Bold"/>
              </a:rPr>
              <a:t>The Core Problem:  </a:t>
            </a:r>
            <a:r>
              <a:rPr lang="en-US" sz="3374">
                <a:solidFill>
                  <a:srgbClr val="000000"/>
                </a:solidFill>
                <a:latin typeface="Canva Sans"/>
                <a:ea typeface="Canva Sans"/>
                <a:cs typeface="Canva Sans"/>
                <a:sym typeface="Canva Sans"/>
              </a:rPr>
              <a:t>To compute p(x), we must consider all possible values of z.</a:t>
            </a:r>
          </a:p>
          <a:p>
            <a:pPr algn="just">
              <a:lnSpc>
                <a:spcPts val="4724"/>
              </a:lnSpc>
            </a:pPr>
            <a:r>
              <a:rPr lang="en-US" sz="3374">
                <a:solidFill>
                  <a:srgbClr val="000000"/>
                </a:solidFill>
                <a:latin typeface="Canva Sans"/>
                <a:ea typeface="Canva Sans"/>
                <a:cs typeface="Canva Sans"/>
                <a:sym typeface="Canva Sans"/>
              </a:rPr>
              <a:t>This requires integration over z:</a:t>
            </a:r>
          </a:p>
          <a:p>
            <a:pPr algn="just">
              <a:lnSpc>
                <a:spcPts val="4724"/>
              </a:lnSpc>
            </a:pPr>
            <a:r>
              <a:rPr lang="en-US" sz="3374">
                <a:solidFill>
                  <a:srgbClr val="000000"/>
                </a:solidFill>
                <a:latin typeface="Canva Sans"/>
                <a:ea typeface="Canva Sans"/>
                <a:cs typeface="Canva Sans"/>
                <a:sym typeface="Canva Sans"/>
              </a:rPr>
              <a:t>                                                  </a:t>
            </a:r>
          </a:p>
          <a:p>
            <a:pPr algn="just">
              <a:lnSpc>
                <a:spcPts val="4724"/>
              </a:lnSpc>
            </a:pPr>
          </a:p>
          <a:p>
            <a:pPr algn="just">
              <a:lnSpc>
                <a:spcPts val="4724"/>
              </a:lnSpc>
            </a:pPr>
            <a:r>
              <a:rPr lang="en-US" sz="3374">
                <a:solidFill>
                  <a:srgbClr val="000000"/>
                </a:solidFill>
                <a:latin typeface="Canva Sans"/>
                <a:ea typeface="Canva Sans"/>
                <a:cs typeface="Canva Sans"/>
                <a:sym typeface="Canva Sans"/>
              </a:rPr>
              <a:t>Why This Is a Problem</a:t>
            </a:r>
          </a:p>
          <a:p>
            <a:pPr algn="just" marL="728515" indent="-364258" lvl="1">
              <a:lnSpc>
                <a:spcPts val="4724"/>
              </a:lnSpc>
              <a:buFont typeface="Arial"/>
              <a:buChar char="•"/>
            </a:pPr>
            <a:r>
              <a:rPr lang="en-US" sz="3374">
                <a:solidFill>
                  <a:srgbClr val="000000"/>
                </a:solidFill>
                <a:latin typeface="Canva Sans"/>
                <a:ea typeface="Canva Sans"/>
                <a:cs typeface="Canva Sans"/>
                <a:sym typeface="Canva Sans"/>
              </a:rPr>
              <a:t>The latent variable z can take infinitely many values</a:t>
            </a:r>
          </a:p>
          <a:p>
            <a:pPr algn="just" marL="728515" indent="-364258" lvl="1">
              <a:lnSpc>
                <a:spcPts val="4724"/>
              </a:lnSpc>
              <a:buFont typeface="Arial"/>
              <a:buChar char="•"/>
            </a:pPr>
            <a:r>
              <a:rPr lang="en-US" sz="3374">
                <a:solidFill>
                  <a:srgbClr val="000000"/>
                </a:solidFill>
                <a:latin typeface="Canva Sans"/>
                <a:ea typeface="Canva Sans"/>
                <a:cs typeface="Canva Sans"/>
                <a:sym typeface="Canva Sans"/>
              </a:rPr>
              <a:t>The decoder p(x | z) is a neural network</a:t>
            </a:r>
          </a:p>
          <a:p>
            <a:pPr algn="just" marL="728515" indent="-364258" lvl="1">
              <a:lnSpc>
                <a:spcPts val="4724"/>
              </a:lnSpc>
              <a:buFont typeface="Arial"/>
              <a:buChar char="•"/>
            </a:pPr>
            <a:r>
              <a:rPr lang="en-US" sz="3374">
                <a:solidFill>
                  <a:srgbClr val="000000"/>
                </a:solidFill>
                <a:latin typeface="Canva Sans"/>
                <a:ea typeface="Canva Sans"/>
                <a:cs typeface="Canva Sans"/>
                <a:sym typeface="Canva Sans"/>
              </a:rPr>
              <a:t>The integral has no closed-form solution</a:t>
            </a:r>
          </a:p>
          <a:p>
            <a:pPr algn="just">
              <a:lnSpc>
                <a:spcPts val="4724"/>
              </a:lnSpc>
            </a:pPr>
          </a:p>
          <a:p>
            <a:pPr algn="just">
              <a:lnSpc>
                <a:spcPts val="4724"/>
              </a:lnSpc>
            </a:pPr>
            <a:r>
              <a:rPr lang="en-US" b="true" sz="3374">
                <a:solidFill>
                  <a:srgbClr val="000000"/>
                </a:solidFill>
                <a:latin typeface="Canva Sans Bold"/>
                <a:ea typeface="Canva Sans Bold"/>
                <a:cs typeface="Canva Sans Bold"/>
                <a:sym typeface="Canva Sans Bold"/>
              </a:rPr>
              <a:t>Result</a:t>
            </a:r>
          </a:p>
          <a:p>
            <a:pPr algn="just">
              <a:lnSpc>
                <a:spcPts val="4724"/>
              </a:lnSpc>
            </a:pPr>
            <a:r>
              <a:rPr lang="en-US" sz="3374">
                <a:solidFill>
                  <a:srgbClr val="000000"/>
                </a:solidFill>
                <a:latin typeface="Canva Sans"/>
                <a:ea typeface="Canva Sans"/>
                <a:cs typeface="Canva Sans"/>
                <a:sym typeface="Canva Sans"/>
              </a:rPr>
              <a:t>This computation is mathematically intractable</a:t>
            </a:r>
          </a:p>
          <a:p>
            <a:pPr algn="just">
              <a:lnSpc>
                <a:spcPts val="4724"/>
              </a:lnSpc>
            </a:pPr>
            <a:r>
              <a:rPr lang="en-US" sz="3374">
                <a:solidFill>
                  <a:srgbClr val="000000"/>
                </a:solidFill>
                <a:latin typeface="Canva Sans"/>
                <a:ea typeface="Canva Sans"/>
                <a:cs typeface="Canva Sans"/>
                <a:sym typeface="Canva Sans"/>
              </a:rPr>
              <a:t>meaning:</a:t>
            </a:r>
          </a:p>
          <a:p>
            <a:pPr algn="just" marL="728515" indent="-364258" lvl="1">
              <a:lnSpc>
                <a:spcPts val="4724"/>
              </a:lnSpc>
              <a:buFont typeface="Arial"/>
              <a:buChar char="•"/>
            </a:pPr>
            <a:r>
              <a:rPr lang="en-US" sz="3374">
                <a:solidFill>
                  <a:srgbClr val="000000"/>
                </a:solidFill>
                <a:latin typeface="Canva Sans"/>
                <a:ea typeface="Canva Sans"/>
                <a:cs typeface="Canva Sans"/>
                <a:sym typeface="Canva Sans"/>
              </a:rPr>
              <a:t>Impossible to compute exactly for complex, real-world data</a:t>
            </a:r>
          </a:p>
          <a:p>
            <a:pPr algn="just" marL="728515" indent="-364258" lvl="1">
              <a:lnSpc>
                <a:spcPts val="4724"/>
              </a:lnSpc>
              <a:buFont typeface="Arial"/>
              <a:buChar char="•"/>
            </a:pPr>
            <a:r>
              <a:rPr lang="en-US" sz="3374">
                <a:solidFill>
                  <a:srgbClr val="000000"/>
                </a:solidFill>
                <a:latin typeface="Canva Sans"/>
                <a:ea typeface="Canva Sans"/>
                <a:cs typeface="Canva Sans"/>
                <a:sym typeface="Canva Sans"/>
              </a:rPr>
              <a:t> We cannot directly calculate p(z | x)</a:t>
            </a:r>
          </a:p>
          <a:p>
            <a:pPr algn="just">
              <a:lnSpc>
                <a:spcPts val="4724"/>
              </a:lnSpc>
            </a:pPr>
          </a:p>
          <a:p>
            <a:pPr algn="just">
              <a:lnSpc>
                <a:spcPts val="4724"/>
              </a:lnSpc>
            </a:pPr>
          </a:p>
          <a:p>
            <a:pPr algn="just">
              <a:lnSpc>
                <a:spcPts val="4724"/>
              </a:lnSpc>
            </a:pPr>
          </a:p>
          <a:p>
            <a:pPr algn="just">
              <a:lnSpc>
                <a:spcPts val="4724"/>
              </a:lnSpc>
            </a:pPr>
          </a:p>
        </p:txBody>
      </p:sp>
      <p:pic>
        <p:nvPicPr>
          <p:cNvPr name="Picture 6" id="6"/>
          <p:cNvPicPr>
            <a:picLocks noChangeAspect="true"/>
          </p:cNvPicPr>
          <p:nvPr/>
        </p:nvPicPr>
        <p:blipFill>
          <a:blip r:embed="rId3"/>
          <a:stretch>
            <a:fillRect/>
          </a:stretch>
        </p:blipFill>
        <p:spPr>
          <a:xfrm rot="0">
            <a:off x="3921734" y="600242"/>
            <a:ext cx="6941047" cy="2380569"/>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E7DA"/>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2722342" y="5684170"/>
            <a:ext cx="2485550" cy="998469"/>
          </a:xfrm>
          <a:prstGeom prst="rect">
            <a:avLst/>
          </a:prstGeom>
        </p:spPr>
      </p:pic>
      <p:sp>
        <p:nvSpPr>
          <p:cNvPr name="TextBox 3" id="3"/>
          <p:cNvSpPr txBox="true"/>
          <p:nvPr/>
        </p:nvSpPr>
        <p:spPr>
          <a:xfrm rot="0">
            <a:off x="0" y="-238125"/>
            <a:ext cx="18288000" cy="19685272"/>
          </a:xfrm>
          <a:prstGeom prst="rect">
            <a:avLst/>
          </a:prstGeom>
        </p:spPr>
        <p:txBody>
          <a:bodyPr anchor="t" rtlCol="false" tIns="0" lIns="0" bIns="0" rIns="0">
            <a:spAutoFit/>
          </a:bodyPr>
          <a:lstStyle/>
          <a:p>
            <a:pPr algn="l">
              <a:lnSpc>
                <a:spcPts val="6745"/>
              </a:lnSpc>
            </a:pPr>
            <a:r>
              <a:rPr lang="en-US" sz="3476" b="true">
                <a:solidFill>
                  <a:srgbClr val="000000"/>
                </a:solidFill>
                <a:latin typeface="Canva Sans Bold"/>
                <a:ea typeface="Canva Sans Bold"/>
                <a:cs typeface="Canva Sans Bold"/>
                <a:sym typeface="Canva Sans Bold"/>
              </a:rPr>
              <a:t>The Solution (Variational Inference):</a:t>
            </a:r>
          </a:p>
          <a:p>
            <a:pPr algn="l">
              <a:lnSpc>
                <a:spcPts val="6745"/>
              </a:lnSpc>
            </a:pPr>
            <a:r>
              <a:rPr lang="en-US" sz="3476">
                <a:solidFill>
                  <a:srgbClr val="000000"/>
                </a:solidFill>
                <a:latin typeface="Canva Sans"/>
                <a:ea typeface="Canva Sans"/>
                <a:cs typeface="Canva Sans"/>
                <a:sym typeface="Canva Sans"/>
              </a:rPr>
              <a:t>The Core Idea: Since we cannot compute the true posterior distribution</a:t>
            </a:r>
          </a:p>
          <a:p>
            <a:pPr algn="l">
              <a:lnSpc>
                <a:spcPts val="6745"/>
              </a:lnSpc>
            </a:pPr>
            <a:r>
              <a:rPr lang="en-US" sz="3476">
                <a:solidFill>
                  <a:srgbClr val="000000"/>
                </a:solidFill>
                <a:latin typeface="Canva Sans"/>
                <a:ea typeface="Canva Sans"/>
                <a:cs typeface="Canva Sans"/>
                <a:sym typeface="Canva Sans"/>
              </a:rPr>
              <a:t>                                                                 </a:t>
            </a:r>
          </a:p>
          <a:p>
            <a:pPr algn="l">
              <a:lnSpc>
                <a:spcPts val="6745"/>
              </a:lnSpc>
            </a:pPr>
            <a:r>
              <a:rPr lang="en-US" sz="3476">
                <a:solidFill>
                  <a:srgbClr val="000000"/>
                </a:solidFill>
                <a:latin typeface="Canva Sans"/>
                <a:ea typeface="Canva Sans"/>
                <a:cs typeface="Canva Sans"/>
                <a:sym typeface="Canva Sans"/>
              </a:rPr>
              <a:t> </a:t>
            </a:r>
            <a:r>
              <a:rPr lang="en-US" sz="3476">
                <a:solidFill>
                  <a:srgbClr val="000000"/>
                </a:solidFill>
                <a:latin typeface="Canva Sans"/>
                <a:ea typeface="Canva Sans"/>
                <a:cs typeface="Canva Sans"/>
                <a:sym typeface="Canva Sans"/>
              </a:rPr>
              <a:t>we approximate it using a neural network.</a:t>
            </a:r>
          </a:p>
          <a:p>
            <a:pPr algn="l">
              <a:lnSpc>
                <a:spcPts val="6745"/>
              </a:lnSpc>
            </a:pPr>
            <a:r>
              <a:rPr lang="en-US" sz="3476">
                <a:solidFill>
                  <a:srgbClr val="000000"/>
                </a:solidFill>
                <a:latin typeface="Canva Sans"/>
                <a:ea typeface="Canva Sans"/>
                <a:cs typeface="Canva Sans"/>
                <a:sym typeface="Canva Sans"/>
              </a:rPr>
              <a:t>Instead of finding the exact answer, we find the best possible approximation.</a:t>
            </a:r>
          </a:p>
          <a:p>
            <a:pPr algn="l">
              <a:lnSpc>
                <a:spcPts val="6745"/>
              </a:lnSpc>
            </a:pPr>
            <a:r>
              <a:rPr lang="en-US" sz="3476" b="true">
                <a:solidFill>
                  <a:srgbClr val="000000"/>
                </a:solidFill>
                <a:latin typeface="Canva Sans Bold"/>
                <a:ea typeface="Canva Sans Bold"/>
                <a:cs typeface="Canva Sans Bold"/>
                <a:sym typeface="Canva Sans Bold"/>
              </a:rPr>
              <a:t>The Encoder (q):</a:t>
            </a:r>
            <a:r>
              <a:rPr lang="en-US" sz="3476">
                <a:solidFill>
                  <a:srgbClr val="000000"/>
                </a:solidFill>
                <a:latin typeface="Canva Sans"/>
                <a:ea typeface="Canva Sans"/>
                <a:cs typeface="Canva Sans"/>
                <a:sym typeface="Canva Sans"/>
              </a:rPr>
              <a:t> We introduce an approximate posterior:</a:t>
            </a:r>
          </a:p>
          <a:p>
            <a:pPr algn="l">
              <a:lnSpc>
                <a:spcPts val="7715"/>
              </a:lnSpc>
            </a:pPr>
            <a:r>
              <a:rPr lang="en-US" sz="3976">
                <a:solidFill>
                  <a:srgbClr val="000000"/>
                </a:solidFill>
                <a:latin typeface="Canva Sans"/>
                <a:ea typeface="Canva Sans"/>
                <a:cs typeface="Canva Sans"/>
                <a:sym typeface="Canva Sans"/>
              </a:rPr>
              <a:t>                                                           </a:t>
            </a:r>
            <a:r>
              <a:rPr lang="en-US" sz="3976" b="true">
                <a:solidFill>
                  <a:srgbClr val="000000"/>
                </a:solidFill>
                <a:latin typeface="Canva Sans Bold"/>
                <a:ea typeface="Canva Sans Bold"/>
                <a:cs typeface="Canva Sans Bold"/>
                <a:sym typeface="Canva Sans Bold"/>
              </a:rPr>
              <a:t>   </a:t>
            </a:r>
          </a:p>
          <a:p>
            <a:pPr algn="l">
              <a:lnSpc>
                <a:spcPts val="6745"/>
              </a:lnSpc>
            </a:pPr>
            <a:r>
              <a:rPr lang="en-US" sz="3476">
                <a:solidFill>
                  <a:srgbClr val="000000"/>
                </a:solidFill>
                <a:latin typeface="Canva Sans"/>
                <a:ea typeface="Canva Sans"/>
                <a:cs typeface="Canva Sans"/>
                <a:sym typeface="Canva Sans"/>
              </a:rPr>
              <a:t>This encoder network learns to map input data x to a distribution over z.</a:t>
            </a:r>
          </a:p>
          <a:p>
            <a:pPr algn="l">
              <a:lnSpc>
                <a:spcPts val="6745"/>
              </a:lnSpc>
            </a:pPr>
            <a:r>
              <a:rPr lang="en-US" sz="3476">
                <a:solidFill>
                  <a:srgbClr val="000000"/>
                </a:solidFill>
                <a:latin typeface="Canva Sans"/>
                <a:ea typeface="Canva Sans"/>
                <a:cs typeface="Canva Sans"/>
                <a:sym typeface="Canva Sans"/>
              </a:rPr>
              <a:t>Meaning</a:t>
            </a:r>
          </a:p>
          <a:p>
            <a:pPr algn="l">
              <a:lnSpc>
                <a:spcPts val="7909"/>
              </a:lnSpc>
            </a:pPr>
            <a:r>
              <a:rPr lang="en-US" sz="4076">
                <a:solidFill>
                  <a:srgbClr val="000000"/>
                </a:solidFill>
                <a:latin typeface="Canva Sans"/>
                <a:ea typeface="Canva Sans"/>
                <a:cs typeface="Canva Sans"/>
                <a:sym typeface="Canva Sans"/>
              </a:rPr>
              <a:t>                                                        </a:t>
            </a:r>
          </a:p>
          <a:p>
            <a:pPr algn="l">
              <a:lnSpc>
                <a:spcPts val="6745"/>
              </a:lnSpc>
            </a:pPr>
            <a:r>
              <a:rPr lang="en-US" sz="3476">
                <a:solidFill>
                  <a:srgbClr val="000000"/>
                </a:solidFill>
                <a:latin typeface="Canva Sans"/>
                <a:ea typeface="Canva Sans"/>
                <a:cs typeface="Canva Sans"/>
                <a:sym typeface="Canva Sans"/>
              </a:rPr>
              <a:t>In words:</a:t>
            </a:r>
          </a:p>
          <a:p>
            <a:pPr algn="l">
              <a:lnSpc>
                <a:spcPts val="6745"/>
              </a:lnSpc>
            </a:pPr>
            <a:r>
              <a:rPr lang="en-US" sz="3476">
                <a:solidFill>
                  <a:srgbClr val="000000"/>
                </a:solidFill>
                <a:latin typeface="Canva Sans"/>
                <a:ea typeface="Canva Sans"/>
                <a:cs typeface="Canva Sans"/>
                <a:sym typeface="Canva Sans"/>
              </a:rPr>
              <a:t>“Our network’s guess of z given x should be as close as possible to the true posterior.”</a:t>
            </a:r>
          </a:p>
          <a:p>
            <a:pPr algn="l">
              <a:lnSpc>
                <a:spcPts val="6745"/>
              </a:lnSpc>
            </a:pPr>
          </a:p>
          <a:p>
            <a:pPr algn="l">
              <a:lnSpc>
                <a:spcPts val="6745"/>
              </a:lnSpc>
            </a:pPr>
          </a:p>
          <a:p>
            <a:pPr algn="l">
              <a:lnSpc>
                <a:spcPts val="6745"/>
              </a:lnSpc>
            </a:pPr>
            <a:r>
              <a:rPr lang="en-US" sz="3476">
                <a:solidFill>
                  <a:srgbClr val="000000"/>
                </a:solidFill>
                <a:latin typeface="Canva Sans"/>
                <a:ea typeface="Canva Sans"/>
                <a:cs typeface="Canva Sans"/>
                <a:sym typeface="Canva Sans"/>
              </a:rPr>
              <a:t> </a:t>
            </a:r>
          </a:p>
          <a:p>
            <a:pPr algn="l">
              <a:lnSpc>
                <a:spcPts val="6745"/>
              </a:lnSpc>
            </a:pPr>
          </a:p>
          <a:p>
            <a:pPr algn="l">
              <a:lnSpc>
                <a:spcPts val="6745"/>
              </a:lnSpc>
            </a:pPr>
          </a:p>
          <a:p>
            <a:pPr algn="l">
              <a:lnSpc>
                <a:spcPts val="6745"/>
              </a:lnSpc>
            </a:pPr>
            <a:r>
              <a:rPr lang="en-US" sz="3476">
                <a:solidFill>
                  <a:srgbClr val="000000"/>
                </a:solidFill>
                <a:latin typeface="Canva Sans"/>
                <a:ea typeface="Canva Sans"/>
                <a:cs typeface="Canva Sans"/>
                <a:sym typeface="Canva Sans"/>
              </a:rPr>
              <a:t> </a:t>
            </a:r>
          </a:p>
          <a:p>
            <a:pPr algn="l">
              <a:lnSpc>
                <a:spcPts val="6745"/>
              </a:lnSpc>
            </a:pPr>
          </a:p>
          <a:p>
            <a:pPr algn="l">
              <a:lnSpc>
                <a:spcPts val="6745"/>
              </a:lnSpc>
            </a:pPr>
          </a:p>
          <a:p>
            <a:pPr algn="l">
              <a:lnSpc>
                <a:spcPts val="6745"/>
              </a:lnSpc>
            </a:pPr>
          </a:p>
          <a:p>
            <a:pPr algn="l">
              <a:lnSpc>
                <a:spcPts val="6745"/>
              </a:lnSpc>
            </a:pPr>
          </a:p>
          <a:p>
            <a:pPr algn="l">
              <a:lnSpc>
                <a:spcPts val="6745"/>
              </a:lnSpc>
            </a:pPr>
          </a:p>
        </p:txBody>
      </p:sp>
      <p:pic>
        <p:nvPicPr>
          <p:cNvPr name="Picture 4" id="4"/>
          <p:cNvPicPr>
            <a:picLocks noChangeAspect="true"/>
          </p:cNvPicPr>
          <p:nvPr/>
        </p:nvPicPr>
        <p:blipFill>
          <a:blip r:embed="rId3"/>
          <a:stretch>
            <a:fillRect/>
          </a:stretch>
        </p:blipFill>
        <p:spPr>
          <a:xfrm rot="0">
            <a:off x="6040871" y="1381830"/>
            <a:ext cx="2321887" cy="1133155"/>
          </a:xfrm>
          <a:prstGeom prst="rect">
            <a:avLst/>
          </a:prstGeom>
        </p:spPr>
      </p:pic>
      <p:pic>
        <p:nvPicPr>
          <p:cNvPr name="Picture 5" id="5"/>
          <p:cNvPicPr>
            <a:picLocks noChangeAspect="true"/>
          </p:cNvPicPr>
          <p:nvPr/>
        </p:nvPicPr>
        <p:blipFill>
          <a:blip r:embed="rId4"/>
          <a:stretch>
            <a:fillRect/>
          </a:stretch>
        </p:blipFill>
        <p:spPr>
          <a:xfrm rot="0">
            <a:off x="5729676" y="4678382"/>
            <a:ext cx="2814786" cy="1148966"/>
          </a:xfrm>
          <a:prstGeom prst="rect">
            <a:avLst/>
          </a:prstGeom>
        </p:spPr>
      </p:pic>
      <p:pic>
        <p:nvPicPr>
          <p:cNvPr name="Picture 6" id="6"/>
          <p:cNvPicPr>
            <a:picLocks noChangeAspect="true"/>
          </p:cNvPicPr>
          <p:nvPr/>
        </p:nvPicPr>
        <p:blipFill>
          <a:blip r:embed="rId5"/>
          <a:stretch>
            <a:fillRect/>
          </a:stretch>
        </p:blipFill>
        <p:spPr>
          <a:xfrm rot="0">
            <a:off x="4337456" y="7096446"/>
            <a:ext cx="5745292" cy="1620805"/>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6E7DA"/>
        </a:solidFill>
      </p:bgPr>
    </p:bg>
    <p:spTree>
      <p:nvGrpSpPr>
        <p:cNvPr id="1" name=""/>
        <p:cNvGrpSpPr/>
        <p:nvPr/>
      </p:nvGrpSpPr>
      <p:grpSpPr>
        <a:xfrm>
          <a:off x="0" y="0"/>
          <a:ext cx="0" cy="0"/>
          <a:chOff x="0" y="0"/>
          <a:chExt cx="0" cy="0"/>
        </a:xfrm>
      </p:grpSpPr>
      <p:sp>
        <p:nvSpPr>
          <p:cNvPr name="TextBox 2" id="2"/>
          <p:cNvSpPr txBox="true"/>
          <p:nvPr/>
        </p:nvSpPr>
        <p:spPr>
          <a:xfrm rot="0">
            <a:off x="1284102" y="2468340"/>
            <a:ext cx="5768223" cy="1069976"/>
          </a:xfrm>
          <a:prstGeom prst="rect">
            <a:avLst/>
          </a:prstGeom>
        </p:spPr>
        <p:txBody>
          <a:bodyPr anchor="t" rtlCol="false" tIns="0" lIns="0" bIns="0" rIns="0">
            <a:spAutoFit/>
          </a:bodyPr>
          <a:lstStyle/>
          <a:p>
            <a:pPr algn="ctr">
              <a:lnSpc>
                <a:spcPts val="8000"/>
              </a:lnSpc>
            </a:pPr>
            <a:r>
              <a:rPr lang="en-US" sz="8000" spc="208">
                <a:solidFill>
                  <a:srgbClr val="F6E7DA"/>
                </a:solidFill>
                <a:latin typeface="Londrina Solid"/>
                <a:ea typeface="Londrina Solid"/>
                <a:cs typeface="Londrina Solid"/>
                <a:sym typeface="Londrina Solid"/>
              </a:rPr>
              <a:t>Answer:</a:t>
            </a:r>
          </a:p>
        </p:txBody>
      </p:sp>
      <p:pic>
        <p:nvPicPr>
          <p:cNvPr name="Picture 3" id="3"/>
          <p:cNvPicPr>
            <a:picLocks noChangeAspect="true"/>
          </p:cNvPicPr>
          <p:nvPr/>
        </p:nvPicPr>
        <p:blipFill>
          <a:blip r:embed="rId2"/>
          <a:stretch>
            <a:fillRect/>
          </a:stretch>
        </p:blipFill>
        <p:spPr>
          <a:xfrm rot="0">
            <a:off x="2722342" y="5684170"/>
            <a:ext cx="2485550" cy="998469"/>
          </a:xfrm>
          <a:prstGeom prst="rect">
            <a:avLst/>
          </a:prstGeom>
        </p:spPr>
      </p:pic>
      <p:sp>
        <p:nvSpPr>
          <p:cNvPr name="TextBox 4" id="4"/>
          <p:cNvSpPr txBox="true"/>
          <p:nvPr/>
        </p:nvSpPr>
        <p:spPr>
          <a:xfrm rot="0">
            <a:off x="1423550" y="4825874"/>
            <a:ext cx="5810622" cy="688975"/>
          </a:xfrm>
          <a:prstGeom prst="rect">
            <a:avLst/>
          </a:prstGeom>
        </p:spPr>
        <p:txBody>
          <a:bodyPr anchor="t" rtlCol="false" tIns="0" lIns="0" bIns="0" rIns="0">
            <a:spAutoFit/>
          </a:bodyPr>
          <a:lstStyle/>
          <a:p>
            <a:pPr algn="l">
              <a:lnSpc>
                <a:spcPts val="5599"/>
              </a:lnSpc>
            </a:pPr>
            <a:r>
              <a:rPr lang="en-US" sz="3999">
                <a:solidFill>
                  <a:srgbClr val="F6E7DA"/>
                </a:solidFill>
                <a:latin typeface="Cloud"/>
                <a:ea typeface="Cloud"/>
                <a:cs typeface="Cloud"/>
                <a:sym typeface="Cloud"/>
              </a:rPr>
              <a:t>Simplify the expression:</a:t>
            </a:r>
          </a:p>
        </p:txBody>
      </p:sp>
      <p:pic>
        <p:nvPicPr>
          <p:cNvPr name="Picture 5" id="5"/>
          <p:cNvPicPr>
            <a:picLocks noChangeAspect="true"/>
          </p:cNvPicPr>
          <p:nvPr/>
        </p:nvPicPr>
        <p:blipFill>
          <a:blip r:embed="rId3"/>
          <a:stretch>
            <a:fillRect/>
          </a:stretch>
        </p:blipFill>
        <p:spPr>
          <a:xfrm rot="0">
            <a:off x="12885061" y="4789897"/>
            <a:ext cx="1338373" cy="836483"/>
          </a:xfrm>
          <a:prstGeom prst="rect">
            <a:avLst/>
          </a:prstGeom>
        </p:spPr>
      </p:pic>
      <p:pic>
        <p:nvPicPr>
          <p:cNvPr name="Picture 6" id="6"/>
          <p:cNvPicPr>
            <a:picLocks noChangeAspect="true"/>
          </p:cNvPicPr>
          <p:nvPr/>
        </p:nvPicPr>
        <p:blipFill>
          <a:blip r:embed="rId4"/>
          <a:srcRect l="0" t="0" r="0" b="0"/>
          <a:stretch>
            <a:fillRect/>
          </a:stretch>
        </p:blipFill>
        <p:spPr>
          <a:xfrm flipH="false" flipV="false" rot="375728">
            <a:off x="10396444" y="2394145"/>
            <a:ext cx="1329456" cy="1282925"/>
          </a:xfrm>
          <a:prstGeom prst="rect">
            <a:avLst/>
          </a:prstGeom>
        </p:spPr>
      </p:pic>
      <p:sp>
        <p:nvSpPr>
          <p:cNvPr name="TextBox 7" id="7"/>
          <p:cNvSpPr txBox="true"/>
          <p:nvPr/>
        </p:nvSpPr>
        <p:spPr>
          <a:xfrm rot="0">
            <a:off x="-22097" y="-180975"/>
            <a:ext cx="18310097" cy="12577953"/>
          </a:xfrm>
          <a:prstGeom prst="rect">
            <a:avLst/>
          </a:prstGeom>
        </p:spPr>
        <p:txBody>
          <a:bodyPr anchor="t" rtlCol="false" tIns="0" lIns="0" bIns="0" rIns="0">
            <a:spAutoFit/>
          </a:bodyPr>
          <a:lstStyle/>
          <a:p>
            <a:pPr algn="l">
              <a:lnSpc>
                <a:spcPts val="5915"/>
              </a:lnSpc>
            </a:pPr>
            <a:r>
              <a:rPr lang="en-US" sz="3399">
                <a:solidFill>
                  <a:srgbClr val="000000"/>
                </a:solidFill>
                <a:latin typeface="Canva Sans"/>
                <a:ea typeface="Canva Sans"/>
                <a:cs typeface="Canva Sans"/>
                <a:sym typeface="Canva Sans"/>
              </a:rPr>
              <a:t>Why Do We Use q Instead of p?</a:t>
            </a:r>
          </a:p>
          <a:p>
            <a:pPr algn="l">
              <a:lnSpc>
                <a:spcPts val="5915"/>
              </a:lnSpc>
            </a:pPr>
            <a:r>
              <a:rPr lang="en-US" sz="3399">
                <a:solidFill>
                  <a:srgbClr val="000000"/>
                </a:solidFill>
                <a:latin typeface="Canva Sans"/>
                <a:ea typeface="Canva Sans"/>
                <a:cs typeface="Canva Sans"/>
                <a:sym typeface="Canva Sans"/>
              </a:rPr>
              <a:t>The true posterior p(z | x) is intractable</a:t>
            </a:r>
          </a:p>
          <a:p>
            <a:pPr algn="l" marL="734059" indent="-367030" lvl="1">
              <a:lnSpc>
                <a:spcPts val="5915"/>
              </a:lnSpc>
              <a:buFont typeface="Arial"/>
              <a:buChar char="•"/>
            </a:pPr>
            <a:r>
              <a:rPr lang="en-US" sz="3399">
                <a:solidFill>
                  <a:srgbClr val="000000"/>
                </a:solidFill>
                <a:latin typeface="Canva Sans"/>
                <a:ea typeface="Canva Sans"/>
                <a:cs typeface="Canva Sans"/>
                <a:sym typeface="Canva Sans"/>
              </a:rPr>
              <a:t>                         is chosen to be:</a:t>
            </a:r>
          </a:p>
          <a:p>
            <a:pPr algn="l" marL="734059" indent="-367030" lvl="1">
              <a:lnSpc>
                <a:spcPts val="5915"/>
              </a:lnSpc>
              <a:buFont typeface="Arial"/>
              <a:buChar char="•"/>
            </a:pPr>
            <a:r>
              <a:rPr lang="en-US" sz="3399">
                <a:solidFill>
                  <a:srgbClr val="000000"/>
                </a:solidFill>
                <a:latin typeface="Canva Sans"/>
                <a:ea typeface="Canva Sans"/>
                <a:cs typeface="Canva Sans"/>
                <a:sym typeface="Canva Sans"/>
              </a:rPr>
              <a:t>Simple</a:t>
            </a:r>
          </a:p>
          <a:p>
            <a:pPr algn="l" marL="734059" indent="-367030" lvl="1">
              <a:lnSpc>
                <a:spcPts val="5915"/>
              </a:lnSpc>
              <a:buFont typeface="Arial"/>
              <a:buChar char="•"/>
            </a:pPr>
            <a:r>
              <a:rPr lang="en-US" sz="3399">
                <a:solidFill>
                  <a:srgbClr val="000000"/>
                </a:solidFill>
                <a:latin typeface="Canva Sans"/>
                <a:ea typeface="Canva Sans"/>
                <a:cs typeface="Canva Sans"/>
                <a:sym typeface="Canva Sans"/>
              </a:rPr>
              <a:t>Easy to compute</a:t>
            </a:r>
          </a:p>
          <a:p>
            <a:pPr algn="l" marL="734059" indent="-367030" lvl="1">
              <a:lnSpc>
                <a:spcPts val="5915"/>
              </a:lnSpc>
              <a:buFont typeface="Arial"/>
              <a:buChar char="•"/>
            </a:pPr>
            <a:r>
              <a:rPr lang="en-US" sz="3399">
                <a:solidFill>
                  <a:srgbClr val="000000"/>
                </a:solidFill>
                <a:latin typeface="Canva Sans"/>
                <a:ea typeface="Canva Sans"/>
                <a:cs typeface="Canva Sans"/>
                <a:sym typeface="Canva Sans"/>
              </a:rPr>
              <a:t>Easy to sample from</a:t>
            </a:r>
          </a:p>
          <a:p>
            <a:pPr algn="l" marL="734059" indent="-367030" lvl="1">
              <a:lnSpc>
                <a:spcPts val="5915"/>
              </a:lnSpc>
              <a:buFont typeface="Arial"/>
              <a:buChar char="•"/>
            </a:pPr>
            <a:r>
              <a:rPr lang="en-US" sz="3399">
                <a:solidFill>
                  <a:srgbClr val="000000"/>
                </a:solidFill>
                <a:latin typeface="Canva Sans"/>
                <a:ea typeface="Canva Sans"/>
                <a:cs typeface="Canva Sans"/>
                <a:sym typeface="Canva Sans"/>
              </a:rPr>
              <a:t>Usually, qφ(z | x) is a Gaussian distribution defined by:</a:t>
            </a:r>
          </a:p>
          <a:p>
            <a:pPr algn="l" marL="734059" indent="-367030" lvl="1">
              <a:lnSpc>
                <a:spcPts val="5915"/>
              </a:lnSpc>
              <a:buFont typeface="Arial"/>
              <a:buChar char="•"/>
            </a:pPr>
            <a:r>
              <a:rPr lang="en-US" sz="3399">
                <a:solidFill>
                  <a:srgbClr val="000000"/>
                </a:solidFill>
                <a:latin typeface="Canva Sans"/>
                <a:ea typeface="Canva Sans"/>
                <a:cs typeface="Canva Sans"/>
                <a:sym typeface="Canva Sans"/>
              </a:rPr>
              <a:t> Mean (μ)</a:t>
            </a:r>
          </a:p>
          <a:p>
            <a:pPr algn="l" marL="734059" indent="-367030" lvl="1">
              <a:lnSpc>
                <a:spcPts val="5915"/>
              </a:lnSpc>
              <a:buFont typeface="Arial"/>
              <a:buChar char="•"/>
            </a:pPr>
            <a:r>
              <a:rPr lang="en-US" sz="3399">
                <a:solidFill>
                  <a:srgbClr val="000000"/>
                </a:solidFill>
                <a:latin typeface="Canva Sans"/>
                <a:ea typeface="Canva Sans"/>
                <a:cs typeface="Canva Sans"/>
                <a:sym typeface="Canva Sans"/>
              </a:rPr>
              <a:t>Variance (σ²)</a:t>
            </a:r>
          </a:p>
          <a:p>
            <a:pPr algn="l">
              <a:lnSpc>
                <a:spcPts val="5915"/>
              </a:lnSpc>
            </a:pPr>
            <a:r>
              <a:rPr lang="en-US" sz="3399">
                <a:solidFill>
                  <a:srgbClr val="000000"/>
                </a:solidFill>
                <a:latin typeface="Canva Sans"/>
                <a:ea typeface="Canva Sans"/>
                <a:cs typeface="Canva Sans"/>
                <a:sym typeface="Canva Sans"/>
              </a:rPr>
              <a:t>Both μ and σ are produced by the encoder network.</a:t>
            </a:r>
          </a:p>
          <a:p>
            <a:pPr algn="l">
              <a:lnSpc>
                <a:spcPts val="5915"/>
              </a:lnSpc>
            </a:pPr>
          </a:p>
          <a:p>
            <a:pPr algn="l">
              <a:lnSpc>
                <a:spcPts val="5915"/>
              </a:lnSpc>
            </a:pPr>
            <a:r>
              <a:rPr lang="en-US" b="true" sz="3399">
                <a:solidFill>
                  <a:srgbClr val="000000"/>
                </a:solidFill>
                <a:latin typeface="Canva Sans Bold"/>
                <a:ea typeface="Canva Sans Bold"/>
                <a:cs typeface="Canva Sans Bold"/>
                <a:sym typeface="Canva Sans Bold"/>
              </a:rPr>
              <a:t>The Objective:</a:t>
            </a:r>
          </a:p>
          <a:p>
            <a:pPr algn="l">
              <a:lnSpc>
                <a:spcPts val="5915"/>
              </a:lnSpc>
            </a:pPr>
            <a:r>
              <a:rPr lang="en-US" sz="3399">
                <a:solidFill>
                  <a:srgbClr val="000000"/>
                </a:solidFill>
                <a:latin typeface="Canva Sans"/>
                <a:ea typeface="Canva Sans"/>
                <a:cs typeface="Canva Sans"/>
                <a:sym typeface="Canva Sans"/>
              </a:rPr>
              <a:t>We want to minimize the difference between our guess </a:t>
            </a:r>
            <a:r>
              <a:rPr lang="en-US" b="true" sz="3399">
                <a:solidFill>
                  <a:srgbClr val="000000"/>
                </a:solidFill>
                <a:latin typeface="Canva Sans Bold"/>
                <a:ea typeface="Canva Sans Bold"/>
                <a:cs typeface="Canva Sans Bold"/>
                <a:sym typeface="Canva Sans Bold"/>
              </a:rPr>
              <a:t>(q) </a:t>
            </a:r>
            <a:r>
              <a:rPr lang="en-US" sz="3399">
                <a:solidFill>
                  <a:srgbClr val="000000"/>
                </a:solidFill>
                <a:latin typeface="Canva Sans"/>
                <a:ea typeface="Canva Sans"/>
                <a:cs typeface="Canva Sans"/>
                <a:sym typeface="Canva Sans"/>
              </a:rPr>
              <a:t>and the truth </a:t>
            </a:r>
            <a:r>
              <a:rPr lang="en-US" b="true" sz="3399">
                <a:solidFill>
                  <a:srgbClr val="000000"/>
                </a:solidFill>
                <a:latin typeface="Canva Sans Bold"/>
                <a:ea typeface="Canva Sans Bold"/>
                <a:cs typeface="Canva Sans Bold"/>
                <a:sym typeface="Canva Sans Bold"/>
              </a:rPr>
              <a:t>(p)</a:t>
            </a:r>
            <a:r>
              <a:rPr lang="en-US" sz="3399">
                <a:solidFill>
                  <a:srgbClr val="000000"/>
                </a:solidFill>
                <a:latin typeface="Canva Sans"/>
                <a:ea typeface="Canva Sans"/>
                <a:cs typeface="Canva Sans"/>
                <a:sym typeface="Canva Sans"/>
              </a:rPr>
              <a:t>. We measure this difference using KL Divergence.</a:t>
            </a:r>
          </a:p>
          <a:p>
            <a:pPr algn="l">
              <a:lnSpc>
                <a:spcPts val="5915"/>
              </a:lnSpc>
            </a:pPr>
          </a:p>
          <a:p>
            <a:pPr algn="l">
              <a:lnSpc>
                <a:spcPts val="5915"/>
              </a:lnSpc>
            </a:pPr>
          </a:p>
          <a:p>
            <a:pPr algn="l">
              <a:lnSpc>
                <a:spcPts val="5915"/>
              </a:lnSpc>
            </a:pPr>
          </a:p>
        </p:txBody>
      </p:sp>
      <p:pic>
        <p:nvPicPr>
          <p:cNvPr name="Picture 8" id="8"/>
          <p:cNvPicPr>
            <a:picLocks noChangeAspect="true"/>
          </p:cNvPicPr>
          <p:nvPr/>
        </p:nvPicPr>
        <p:blipFill>
          <a:blip r:embed="rId5"/>
          <a:stretch>
            <a:fillRect/>
          </a:stretch>
        </p:blipFill>
        <p:spPr>
          <a:xfrm rot="0">
            <a:off x="492196" y="1151126"/>
            <a:ext cx="2996587" cy="1223175"/>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p:cSld>
    <p:bg>
      <p:bgPr>
        <a:solidFill>
          <a:srgbClr val="F6E7DA"/>
        </a:solidFill>
      </p:bgPr>
    </p:bg>
    <p:spTree>
      <p:nvGrpSpPr>
        <p:cNvPr id="1" name=""/>
        <p:cNvGrpSpPr/>
        <p:nvPr/>
      </p:nvGrpSpPr>
      <p:grpSpPr>
        <a:xfrm>
          <a:off x="0" y="0"/>
          <a:ext cx="0" cy="0"/>
          <a:chOff x="0" y="0"/>
          <a:chExt cx="0" cy="0"/>
        </a:xfrm>
      </p:grpSpPr>
      <p:sp>
        <p:nvSpPr>
          <p:cNvPr name="TextBox 2" id="2"/>
          <p:cNvSpPr txBox="true"/>
          <p:nvPr/>
        </p:nvSpPr>
        <p:spPr>
          <a:xfrm rot="0">
            <a:off x="9139238" y="4652327"/>
            <a:ext cx="9525" cy="887095"/>
          </a:xfrm>
          <a:prstGeom prst="rect">
            <a:avLst/>
          </a:prstGeom>
        </p:spPr>
        <p:txBody>
          <a:bodyPr anchor="t" rtlCol="false" tIns="0" lIns="0" bIns="0" rIns="0">
            <a:spAutoFit/>
          </a:bodyPr>
          <a:lstStyle/>
          <a:p>
            <a:pPr algn="ctr">
              <a:lnSpc>
                <a:spcPts val="7279"/>
              </a:lnSpc>
            </a:pPr>
          </a:p>
        </p:txBody>
      </p:sp>
      <p:sp>
        <p:nvSpPr>
          <p:cNvPr name="TextBox 3" id="3"/>
          <p:cNvSpPr txBox="true"/>
          <p:nvPr/>
        </p:nvSpPr>
        <p:spPr>
          <a:xfrm rot="0">
            <a:off x="0" y="129008"/>
            <a:ext cx="18162187" cy="11215284"/>
          </a:xfrm>
          <a:prstGeom prst="rect">
            <a:avLst/>
          </a:prstGeom>
        </p:spPr>
        <p:txBody>
          <a:bodyPr anchor="t" rtlCol="false" tIns="0" lIns="0" bIns="0" rIns="0">
            <a:spAutoFit/>
          </a:bodyPr>
          <a:lstStyle/>
          <a:p>
            <a:pPr algn="l">
              <a:lnSpc>
                <a:spcPts val="4484"/>
              </a:lnSpc>
            </a:pPr>
            <a:r>
              <a:rPr lang="en-US" b="true" sz="3203">
                <a:solidFill>
                  <a:srgbClr val="000000"/>
                </a:solidFill>
                <a:latin typeface="Canva Sans Bold"/>
                <a:ea typeface="Canva Sans Bold"/>
                <a:cs typeface="Canva Sans Bold"/>
                <a:sym typeface="Canva Sans Bold"/>
              </a:rPr>
              <a:t>Approximating the Posterior Distribution</a:t>
            </a:r>
          </a:p>
          <a:p>
            <a:pPr algn="l">
              <a:lnSpc>
                <a:spcPts val="4484"/>
              </a:lnSpc>
            </a:pPr>
            <a:r>
              <a:rPr lang="en-US" sz="3203">
                <a:solidFill>
                  <a:srgbClr val="000000"/>
                </a:solidFill>
                <a:latin typeface="Canva Sans"/>
                <a:ea typeface="Canva Sans"/>
                <a:cs typeface="Canva Sans"/>
                <a:sym typeface="Canva Sans"/>
              </a:rPr>
              <a:t>   </a:t>
            </a:r>
            <a:r>
              <a:rPr lang="en-US" sz="3203">
                <a:solidFill>
                  <a:srgbClr val="000000"/>
                </a:solidFill>
                <a:latin typeface="Canva Sans"/>
                <a:ea typeface="Canva Sans"/>
                <a:cs typeface="Canva Sans"/>
                <a:sym typeface="Canva Sans"/>
              </a:rPr>
              <a:t>To better approximate the true posterior distribution:</a:t>
            </a:r>
          </a:p>
          <a:p>
            <a:pPr algn="l">
              <a:lnSpc>
                <a:spcPts val="4484"/>
              </a:lnSpc>
            </a:pPr>
            <a:r>
              <a:rPr lang="en-US" sz="3203">
                <a:solidFill>
                  <a:srgbClr val="000000"/>
                </a:solidFill>
                <a:latin typeface="Canva Sans"/>
                <a:ea typeface="Canva Sans"/>
                <a:cs typeface="Canva Sans"/>
                <a:sym typeface="Canva Sans"/>
              </a:rPr>
              <a:t>                                          </a:t>
            </a:r>
            <a:r>
              <a:rPr lang="en-US" b="true" sz="3203">
                <a:solidFill>
                  <a:srgbClr val="000000"/>
                </a:solidFill>
                <a:latin typeface="Canva Sans Bold"/>
                <a:ea typeface="Canva Sans Bold"/>
                <a:cs typeface="Canva Sans Bold"/>
                <a:sym typeface="Canva Sans Bold"/>
              </a:rPr>
              <a:t> p(z | x)</a:t>
            </a:r>
          </a:p>
          <a:p>
            <a:pPr algn="l">
              <a:lnSpc>
                <a:spcPts val="4484"/>
              </a:lnSpc>
            </a:pPr>
          </a:p>
          <a:p>
            <a:pPr algn="l">
              <a:lnSpc>
                <a:spcPts val="4484"/>
              </a:lnSpc>
            </a:pPr>
            <a:r>
              <a:rPr lang="en-US" sz="3203">
                <a:solidFill>
                  <a:srgbClr val="000000"/>
                </a:solidFill>
                <a:latin typeface="Canva Sans"/>
                <a:ea typeface="Canva Sans"/>
                <a:cs typeface="Canva Sans"/>
                <a:sym typeface="Canva Sans"/>
              </a:rPr>
              <a:t>we introduce an approximate distribution:</a:t>
            </a:r>
          </a:p>
          <a:p>
            <a:pPr algn="l">
              <a:lnSpc>
                <a:spcPts val="4484"/>
              </a:lnSpc>
            </a:pPr>
            <a:r>
              <a:rPr lang="en-US" sz="3203">
                <a:solidFill>
                  <a:srgbClr val="000000"/>
                </a:solidFill>
                <a:latin typeface="Canva Sans"/>
                <a:ea typeface="Canva Sans"/>
                <a:cs typeface="Canva Sans"/>
                <a:sym typeface="Canva Sans"/>
              </a:rPr>
              <a:t>                                             </a:t>
            </a:r>
            <a:r>
              <a:rPr lang="en-US" b="true" sz="3203">
                <a:solidFill>
                  <a:srgbClr val="000000"/>
                </a:solidFill>
                <a:latin typeface="Canva Sans Bold"/>
                <a:ea typeface="Canva Sans Bold"/>
                <a:cs typeface="Canva Sans Bold"/>
                <a:sym typeface="Canva Sans Bold"/>
              </a:rPr>
              <a:t>q(z | x)</a:t>
            </a:r>
          </a:p>
          <a:p>
            <a:pPr algn="l">
              <a:lnSpc>
                <a:spcPts val="4484"/>
              </a:lnSpc>
            </a:pPr>
          </a:p>
          <a:p>
            <a:pPr algn="l">
              <a:lnSpc>
                <a:spcPts val="4484"/>
              </a:lnSpc>
            </a:pPr>
            <a:r>
              <a:rPr lang="en-US" sz="3203">
                <a:solidFill>
                  <a:srgbClr val="000000"/>
                </a:solidFill>
                <a:latin typeface="Canva Sans"/>
                <a:ea typeface="Canva Sans"/>
                <a:cs typeface="Canva Sans"/>
                <a:sym typeface="Canva Sans"/>
              </a:rPr>
              <a:t>Our goal is to make q(z | x) as close as possible to p(z | x)</a:t>
            </a:r>
          </a:p>
          <a:p>
            <a:pPr algn="l">
              <a:lnSpc>
                <a:spcPts val="4484"/>
              </a:lnSpc>
            </a:pPr>
          </a:p>
          <a:p>
            <a:pPr algn="l">
              <a:lnSpc>
                <a:spcPts val="4484"/>
              </a:lnSpc>
            </a:pPr>
            <a:r>
              <a:rPr lang="en-US" b="true" sz="3203">
                <a:solidFill>
                  <a:srgbClr val="000000"/>
                </a:solidFill>
                <a:latin typeface="Canva Sans Bold"/>
                <a:ea typeface="Canva Sans Bold"/>
                <a:cs typeface="Canva Sans Bold"/>
                <a:sym typeface="Canva Sans Bold"/>
              </a:rPr>
              <a:t>KL Divergence Objective:</a:t>
            </a:r>
          </a:p>
          <a:p>
            <a:pPr algn="l">
              <a:lnSpc>
                <a:spcPts val="4484"/>
              </a:lnSpc>
            </a:pPr>
            <a:r>
              <a:rPr lang="en-US" sz="3203">
                <a:solidFill>
                  <a:srgbClr val="000000"/>
                </a:solidFill>
                <a:latin typeface="Canva Sans"/>
                <a:ea typeface="Canva Sans"/>
                <a:cs typeface="Canva Sans"/>
                <a:sym typeface="Canva Sans"/>
              </a:rPr>
              <a:t>We achieve this by minimizing the KL divergence between the two distributions:</a:t>
            </a:r>
          </a:p>
          <a:p>
            <a:pPr algn="l">
              <a:lnSpc>
                <a:spcPts val="4484"/>
              </a:lnSpc>
            </a:pPr>
          </a:p>
          <a:p>
            <a:pPr algn="l">
              <a:lnSpc>
                <a:spcPts val="4484"/>
              </a:lnSpc>
            </a:pPr>
            <a:r>
              <a:rPr lang="en-US" sz="3203">
                <a:solidFill>
                  <a:srgbClr val="000000"/>
                </a:solidFill>
                <a:latin typeface="Canva Sans"/>
                <a:ea typeface="Canva Sans"/>
                <a:cs typeface="Canva Sans"/>
                <a:sym typeface="Canva Sans"/>
              </a:rPr>
              <a:t>                                                     </a:t>
            </a:r>
            <a:r>
              <a:rPr lang="en-US" b="true" sz="3203">
                <a:solidFill>
                  <a:srgbClr val="000000"/>
                </a:solidFill>
                <a:latin typeface="Canva Sans Bold"/>
                <a:ea typeface="Canva Sans Bold"/>
                <a:cs typeface="Canva Sans Bold"/>
                <a:sym typeface="Canva Sans Bold"/>
              </a:rPr>
              <a:t>min</a:t>
            </a:r>
            <a:r>
              <a:rPr lang="en-US" sz="3203">
                <a:solidFill>
                  <a:srgbClr val="000000"/>
                </a:solidFill>
                <a:latin typeface="Canva Sans"/>
                <a:ea typeface="Canva Sans"/>
                <a:cs typeface="Canva Sans"/>
                <a:sym typeface="Canva Sans"/>
              </a:rPr>
              <a:t> </a:t>
            </a:r>
            <a:r>
              <a:rPr lang="en-US" b="true" sz="3203">
                <a:solidFill>
                  <a:srgbClr val="000000"/>
                </a:solidFill>
                <a:latin typeface="Canva Sans Bold"/>
                <a:ea typeface="Canva Sans Bold"/>
                <a:cs typeface="Canva Sans Bold"/>
                <a:sym typeface="Canva Sans Bold"/>
              </a:rPr>
              <a:t>KL( q(z | x) || p(z | x) )</a:t>
            </a:r>
          </a:p>
          <a:p>
            <a:pPr algn="l">
              <a:lnSpc>
                <a:spcPts val="4484"/>
              </a:lnSpc>
            </a:pPr>
          </a:p>
          <a:p>
            <a:pPr algn="l">
              <a:lnSpc>
                <a:spcPts val="4484"/>
              </a:lnSpc>
            </a:pPr>
            <a:r>
              <a:rPr lang="en-US" sz="3203">
                <a:solidFill>
                  <a:srgbClr val="000000"/>
                </a:solidFill>
                <a:latin typeface="Canva Sans"/>
                <a:ea typeface="Canva Sans"/>
                <a:cs typeface="Canva Sans"/>
                <a:sym typeface="Canva Sans"/>
              </a:rPr>
              <a:t>KL divergence measures how different two probability distributions are.</a:t>
            </a:r>
          </a:p>
          <a:p>
            <a:pPr algn="l">
              <a:lnSpc>
                <a:spcPts val="4484"/>
              </a:lnSpc>
            </a:pPr>
          </a:p>
          <a:p>
            <a:pPr algn="l">
              <a:lnSpc>
                <a:spcPts val="4484"/>
              </a:lnSpc>
            </a:pPr>
            <a:r>
              <a:rPr lang="en-US" sz="3203">
                <a:solidFill>
                  <a:srgbClr val="000000"/>
                </a:solidFill>
                <a:latin typeface="Canva Sans"/>
                <a:ea typeface="Canva Sans"/>
                <a:cs typeface="Canva Sans"/>
                <a:sym typeface="Canva Sans"/>
              </a:rPr>
              <a:t>Lower KL divergence means the two distributions are more similar.</a:t>
            </a:r>
          </a:p>
          <a:p>
            <a:pPr algn="l">
              <a:lnSpc>
                <a:spcPts val="4484"/>
              </a:lnSpc>
            </a:pPr>
          </a:p>
          <a:p>
            <a:pPr algn="l">
              <a:lnSpc>
                <a:spcPts val="4484"/>
              </a:lnSpc>
            </a:pPr>
          </a:p>
          <a:p>
            <a:pPr algn="l">
              <a:lnSpc>
                <a:spcPts val="4484"/>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6E7DA"/>
        </a:solidFill>
      </p:bgPr>
    </p:bg>
    <p:spTree>
      <p:nvGrpSpPr>
        <p:cNvPr id="1" name=""/>
        <p:cNvGrpSpPr/>
        <p:nvPr/>
      </p:nvGrpSpPr>
      <p:grpSpPr>
        <a:xfrm>
          <a:off x="0" y="0"/>
          <a:ext cx="0" cy="0"/>
          <a:chOff x="0" y="0"/>
          <a:chExt cx="0" cy="0"/>
        </a:xfrm>
      </p:grpSpPr>
      <p:sp>
        <p:nvSpPr>
          <p:cNvPr name="TextBox 2" id="2"/>
          <p:cNvSpPr txBox="true"/>
          <p:nvPr/>
        </p:nvSpPr>
        <p:spPr>
          <a:xfrm rot="0">
            <a:off x="1711635" y="2468340"/>
            <a:ext cx="5768223" cy="1069976"/>
          </a:xfrm>
          <a:prstGeom prst="rect">
            <a:avLst/>
          </a:prstGeom>
        </p:spPr>
        <p:txBody>
          <a:bodyPr anchor="t" rtlCol="false" tIns="0" lIns="0" bIns="0" rIns="0">
            <a:spAutoFit/>
          </a:bodyPr>
          <a:lstStyle/>
          <a:p>
            <a:pPr algn="ctr">
              <a:lnSpc>
                <a:spcPts val="8000"/>
              </a:lnSpc>
            </a:pPr>
            <a:r>
              <a:rPr lang="en-US" sz="8000" spc="208">
                <a:solidFill>
                  <a:srgbClr val="F6E7DA"/>
                </a:solidFill>
                <a:latin typeface="Londrina Solid"/>
                <a:ea typeface="Londrina Solid"/>
                <a:cs typeface="Londrina Solid"/>
                <a:sym typeface="Londrina Solid"/>
              </a:rPr>
              <a:t>Answer:</a:t>
            </a:r>
          </a:p>
        </p:txBody>
      </p:sp>
      <p:pic>
        <p:nvPicPr>
          <p:cNvPr name="Picture 3" id="3"/>
          <p:cNvPicPr>
            <a:picLocks noChangeAspect="true"/>
          </p:cNvPicPr>
          <p:nvPr/>
        </p:nvPicPr>
        <p:blipFill>
          <a:blip r:embed="rId2"/>
          <a:stretch>
            <a:fillRect/>
          </a:stretch>
        </p:blipFill>
        <p:spPr>
          <a:xfrm rot="0">
            <a:off x="2519207" y="5586755"/>
            <a:ext cx="3329873" cy="1248702"/>
          </a:xfrm>
          <a:prstGeom prst="rect">
            <a:avLst/>
          </a:prstGeom>
        </p:spPr>
      </p:pic>
      <p:pic>
        <p:nvPicPr>
          <p:cNvPr name="Picture 4" id="4"/>
          <p:cNvPicPr>
            <a:picLocks noChangeAspect="true"/>
          </p:cNvPicPr>
          <p:nvPr/>
        </p:nvPicPr>
        <p:blipFill>
          <a:blip r:embed="rId3"/>
          <a:srcRect l="0" t="0" r="0" b="0"/>
          <a:stretch>
            <a:fillRect/>
          </a:stretch>
        </p:blipFill>
        <p:spPr>
          <a:xfrm flipH="true" flipV="false" rot="375728">
            <a:off x="15661054" y="7732169"/>
            <a:ext cx="1329456" cy="1282925"/>
          </a:xfrm>
          <a:prstGeom prst="rect">
            <a:avLst/>
          </a:prstGeom>
        </p:spPr>
      </p:pic>
      <p:sp>
        <p:nvSpPr>
          <p:cNvPr name="TextBox 5" id="5"/>
          <p:cNvSpPr txBox="true"/>
          <p:nvPr/>
        </p:nvSpPr>
        <p:spPr>
          <a:xfrm rot="0">
            <a:off x="0" y="-66675"/>
            <a:ext cx="18288000" cy="13181965"/>
          </a:xfrm>
          <a:prstGeom prst="rect">
            <a:avLst/>
          </a:prstGeom>
        </p:spPr>
        <p:txBody>
          <a:bodyPr anchor="t" rtlCol="false" tIns="0" lIns="0" bIns="0" rIns="0">
            <a:spAutoFit/>
          </a:bodyPr>
          <a:lstStyle/>
          <a:p>
            <a:pPr algn="l">
              <a:lnSpc>
                <a:spcPts val="4759"/>
              </a:lnSpc>
            </a:pPr>
            <a:r>
              <a:rPr lang="en-US" b="true" sz="3399">
                <a:solidFill>
                  <a:srgbClr val="000000"/>
                </a:solidFill>
                <a:latin typeface="Canva Sans Bold"/>
                <a:ea typeface="Canva Sans Bold"/>
                <a:cs typeface="Canva Sans Bold"/>
                <a:sym typeface="Canva Sans Bold"/>
              </a:rPr>
              <a:t>Equivalent Maximization Problem (ELBO)</a:t>
            </a:r>
          </a:p>
          <a:p>
            <a:pPr algn="l">
              <a:lnSpc>
                <a:spcPts val="4759"/>
              </a:lnSpc>
            </a:pPr>
            <a:r>
              <a:rPr lang="en-US" sz="3399">
                <a:solidFill>
                  <a:srgbClr val="000000"/>
                </a:solidFill>
                <a:latin typeface="Canva Sans"/>
                <a:ea typeface="Canva Sans"/>
                <a:cs typeface="Canva Sans"/>
                <a:sym typeface="Canva Sans"/>
              </a:rPr>
              <a:t>By simplifying the above minimization problem, it becomes equivalent to maximizing the following objective:</a:t>
            </a:r>
          </a:p>
          <a:p>
            <a:pPr algn="l">
              <a:lnSpc>
                <a:spcPts val="4759"/>
              </a:lnSpc>
            </a:pPr>
          </a:p>
          <a:p>
            <a:pPr algn="l">
              <a:lnSpc>
                <a:spcPts val="4759"/>
              </a:lnSpc>
            </a:pPr>
            <a:r>
              <a:rPr lang="en-US" b="true" sz="3399">
                <a:solidFill>
                  <a:srgbClr val="000000"/>
                </a:solidFill>
                <a:latin typeface="Canva Sans Bold"/>
                <a:ea typeface="Canva Sans Bold"/>
                <a:cs typeface="Canva Sans Bold"/>
                <a:sym typeface="Canva Sans Bold"/>
              </a:rPr>
              <a:t>                               </a:t>
            </a:r>
          </a:p>
          <a:p>
            <a:pPr algn="l">
              <a:lnSpc>
                <a:spcPts val="4759"/>
              </a:lnSpc>
            </a:pPr>
            <a:r>
              <a:rPr lang="en-US" b="true" sz="3399" i="true" u="sng">
                <a:solidFill>
                  <a:srgbClr val="000000"/>
                </a:solidFill>
                <a:latin typeface="Canva Sans Bold Italics"/>
                <a:ea typeface="Canva Sans Bold Italics"/>
                <a:cs typeface="Canva Sans Bold Italics"/>
                <a:sym typeface="Canva Sans Bold Italics"/>
              </a:rPr>
              <a:t>This objective is known as the Evidence Lower Bound (ELBO).</a:t>
            </a:r>
          </a:p>
          <a:p>
            <a:pPr algn="l">
              <a:lnSpc>
                <a:spcPts val="4759"/>
              </a:lnSpc>
            </a:pPr>
          </a:p>
          <a:p>
            <a:pPr algn="l">
              <a:lnSpc>
                <a:spcPts val="4759"/>
              </a:lnSpc>
            </a:pPr>
          </a:p>
          <a:p>
            <a:pPr algn="l">
              <a:lnSpc>
                <a:spcPts val="4759"/>
              </a:lnSpc>
            </a:pPr>
            <a:r>
              <a:rPr lang="en-US" sz="3399" b="true">
                <a:solidFill>
                  <a:srgbClr val="000000"/>
                </a:solidFill>
                <a:latin typeface="Canva Sans Bold"/>
                <a:ea typeface="Canva Sans Bold"/>
                <a:cs typeface="Canva Sans Bold"/>
                <a:sym typeface="Canva Sans Bold"/>
              </a:rPr>
              <a:t>Interpretation of the Two Terms</a:t>
            </a:r>
          </a:p>
          <a:p>
            <a:pPr algn="l">
              <a:lnSpc>
                <a:spcPts val="4759"/>
              </a:lnSpc>
            </a:pPr>
            <a:r>
              <a:rPr lang="en-US" sz="3399" b="true">
                <a:solidFill>
                  <a:srgbClr val="000000"/>
                </a:solidFill>
                <a:latin typeface="Canva Sans Bold"/>
                <a:ea typeface="Canva Sans Bold"/>
                <a:cs typeface="Canva Sans Bold"/>
                <a:sym typeface="Canva Sans Bold"/>
              </a:rPr>
              <a:t>1. Reconstruction Term</a:t>
            </a:r>
          </a:p>
          <a:p>
            <a:pPr algn="l">
              <a:lnSpc>
                <a:spcPts val="4759"/>
              </a:lnSpc>
            </a:pPr>
            <a:r>
              <a:rPr lang="en-US" sz="3399" b="true">
                <a:solidFill>
                  <a:srgbClr val="000000"/>
                </a:solidFill>
                <a:latin typeface="Canva Sans Bold"/>
                <a:ea typeface="Canva Sans Bold"/>
                <a:cs typeface="Canva Sans Bold"/>
                <a:sym typeface="Canva Sans Bold"/>
              </a:rPr>
              <a:t>                                              </a:t>
            </a:r>
          </a:p>
          <a:p>
            <a:pPr algn="l">
              <a:lnSpc>
                <a:spcPts val="4759"/>
              </a:lnSpc>
            </a:pP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Measures how well the model can reconstruct the input x from z</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Encourages accurate reconstruction of the original data</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This is called the reconstruction likelihood.</a:t>
            </a:r>
          </a:p>
          <a:p>
            <a:pPr algn="l">
              <a:lnSpc>
                <a:spcPts val="4759"/>
              </a:lnSpc>
            </a:pPr>
          </a:p>
          <a:p>
            <a:pPr algn="l">
              <a:lnSpc>
                <a:spcPts val="4759"/>
              </a:lnSpc>
            </a:pPr>
          </a:p>
          <a:p>
            <a:pPr algn="l">
              <a:lnSpc>
                <a:spcPts val="4759"/>
              </a:lnSpc>
            </a:pPr>
          </a:p>
          <a:p>
            <a:pPr algn="l">
              <a:lnSpc>
                <a:spcPts val="4759"/>
              </a:lnSpc>
            </a:pPr>
          </a:p>
          <a:p>
            <a:pPr algn="l">
              <a:lnSpc>
                <a:spcPts val="4759"/>
              </a:lnSpc>
            </a:pPr>
          </a:p>
          <a:p>
            <a:pPr algn="l">
              <a:lnSpc>
                <a:spcPts val="4759"/>
              </a:lnSpc>
            </a:pPr>
          </a:p>
          <a:p>
            <a:pPr algn="l">
              <a:lnSpc>
                <a:spcPts val="4759"/>
              </a:lnSpc>
            </a:pPr>
          </a:p>
        </p:txBody>
      </p:sp>
      <p:pic>
        <p:nvPicPr>
          <p:cNvPr name="Picture 6" id="6"/>
          <p:cNvPicPr>
            <a:picLocks noChangeAspect="true"/>
          </p:cNvPicPr>
          <p:nvPr/>
        </p:nvPicPr>
        <p:blipFill>
          <a:blip r:embed="rId4"/>
          <a:stretch>
            <a:fillRect/>
          </a:stretch>
        </p:blipFill>
        <p:spPr>
          <a:xfrm rot="0">
            <a:off x="2766647" y="1246985"/>
            <a:ext cx="9738360" cy="2156961"/>
          </a:xfrm>
          <a:prstGeom prst="rect">
            <a:avLst/>
          </a:prstGeom>
        </p:spPr>
      </p:pic>
      <p:pic>
        <p:nvPicPr>
          <p:cNvPr name="Picture 7" id="7"/>
          <p:cNvPicPr>
            <a:picLocks noChangeAspect="true"/>
          </p:cNvPicPr>
          <p:nvPr/>
        </p:nvPicPr>
        <p:blipFill>
          <a:blip r:embed="rId5"/>
          <a:stretch>
            <a:fillRect/>
          </a:stretch>
        </p:blipFill>
        <p:spPr>
          <a:xfrm rot="0">
            <a:off x="4055206" y="5570211"/>
            <a:ext cx="6486496" cy="1856053"/>
          </a:xfrm>
          <a:prstGeom prst="rect">
            <a:avLst/>
          </a:prstGeom>
        </p:spPr>
      </p:pic>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6E7DA"/>
        </a:solidFill>
      </p:bgPr>
    </p:bg>
    <p:spTree>
      <p:nvGrpSpPr>
        <p:cNvPr id="1" name=""/>
        <p:cNvGrpSpPr/>
        <p:nvPr/>
      </p:nvGrpSpPr>
      <p:grpSpPr>
        <a:xfrm>
          <a:off x="0" y="0"/>
          <a:ext cx="0" cy="0"/>
          <a:chOff x="0" y="0"/>
          <a:chExt cx="0" cy="0"/>
        </a:xfrm>
      </p:grpSpPr>
      <p:sp>
        <p:nvSpPr>
          <p:cNvPr name="TextBox 2" id="2"/>
          <p:cNvSpPr txBox="true"/>
          <p:nvPr/>
        </p:nvSpPr>
        <p:spPr>
          <a:xfrm rot="0">
            <a:off x="2329621" y="4708691"/>
            <a:ext cx="5810622" cy="688975"/>
          </a:xfrm>
          <a:prstGeom prst="rect">
            <a:avLst/>
          </a:prstGeom>
        </p:spPr>
        <p:txBody>
          <a:bodyPr anchor="t" rtlCol="false" tIns="0" lIns="0" bIns="0" rIns="0">
            <a:spAutoFit/>
          </a:bodyPr>
          <a:lstStyle/>
          <a:p>
            <a:pPr algn="l">
              <a:lnSpc>
                <a:spcPts val="5599"/>
              </a:lnSpc>
            </a:pPr>
            <a:r>
              <a:rPr lang="en-US" sz="3999">
                <a:solidFill>
                  <a:srgbClr val="F6E7DA"/>
                </a:solidFill>
                <a:latin typeface="Cloud"/>
                <a:ea typeface="Cloud"/>
                <a:cs typeface="Cloud"/>
                <a:sym typeface="Cloud"/>
              </a:rPr>
              <a:t>Simplify the expression:</a:t>
            </a:r>
          </a:p>
        </p:txBody>
      </p:sp>
      <p:pic>
        <p:nvPicPr>
          <p:cNvPr name="Picture 3" id="3"/>
          <p:cNvPicPr>
            <a:picLocks noChangeAspect="true"/>
          </p:cNvPicPr>
          <p:nvPr/>
        </p:nvPicPr>
        <p:blipFill>
          <a:blip r:embed="rId2"/>
          <a:stretch>
            <a:fillRect/>
          </a:stretch>
        </p:blipFill>
        <p:spPr>
          <a:xfrm rot="0">
            <a:off x="3443890" y="5735739"/>
            <a:ext cx="3844486" cy="1200131"/>
          </a:xfrm>
          <a:prstGeom prst="rect">
            <a:avLst/>
          </a:prstGeom>
        </p:spPr>
      </p:pic>
      <p:pic>
        <p:nvPicPr>
          <p:cNvPr name="Picture 4" id="4"/>
          <p:cNvPicPr>
            <a:picLocks noChangeAspect="true"/>
          </p:cNvPicPr>
          <p:nvPr/>
        </p:nvPicPr>
        <p:blipFill>
          <a:blip r:embed="rId3"/>
          <a:stretch>
            <a:fillRect/>
          </a:stretch>
        </p:blipFill>
        <p:spPr>
          <a:xfrm rot="0">
            <a:off x="12492145" y="7155304"/>
            <a:ext cx="2071096" cy="1016371"/>
          </a:xfrm>
          <a:prstGeom prst="rect">
            <a:avLst/>
          </a:prstGeom>
        </p:spPr>
      </p:pic>
      <p:sp>
        <p:nvSpPr>
          <p:cNvPr name="TextBox 5" id="5"/>
          <p:cNvSpPr txBox="true"/>
          <p:nvPr/>
        </p:nvSpPr>
        <p:spPr>
          <a:xfrm rot="0">
            <a:off x="289919" y="127630"/>
            <a:ext cx="17769273" cy="11122025"/>
          </a:xfrm>
          <a:prstGeom prst="rect">
            <a:avLst/>
          </a:prstGeom>
        </p:spPr>
        <p:txBody>
          <a:bodyPr anchor="t" rtlCol="false" tIns="0" lIns="0" bIns="0" rIns="0">
            <a:spAutoFit/>
          </a:bodyPr>
          <a:lstStyle/>
          <a:p>
            <a:pPr algn="just">
              <a:lnSpc>
                <a:spcPts val="4929"/>
              </a:lnSpc>
            </a:pPr>
            <a:r>
              <a:rPr lang="en-US" b="true" sz="3399">
                <a:solidFill>
                  <a:srgbClr val="000000"/>
                </a:solidFill>
                <a:latin typeface="Canva Sans Bold"/>
                <a:ea typeface="Canva Sans Bold"/>
                <a:cs typeface="Canva Sans Bold"/>
                <a:sym typeface="Canva Sans Bold"/>
              </a:rPr>
              <a:t>2. Regularization Term</a:t>
            </a:r>
          </a:p>
          <a:p>
            <a:pPr algn="just">
              <a:lnSpc>
                <a:spcPts val="4929"/>
              </a:lnSpc>
            </a:pPr>
            <a:r>
              <a:rPr lang="en-US" sz="3399">
                <a:solidFill>
                  <a:srgbClr val="000000"/>
                </a:solidFill>
                <a:latin typeface="Canva Sans"/>
                <a:ea typeface="Canva Sans"/>
                <a:cs typeface="Canva Sans"/>
                <a:sym typeface="Canva Sans"/>
              </a:rPr>
              <a:t>                                                      </a:t>
            </a:r>
            <a:r>
              <a:rPr lang="en-US" b="true" sz="3399">
                <a:solidFill>
                  <a:srgbClr val="000000"/>
                </a:solidFill>
                <a:latin typeface="Canva Sans Bold"/>
                <a:ea typeface="Canva Sans Bold"/>
                <a:cs typeface="Canva Sans Bold"/>
                <a:sym typeface="Canva Sans Bold"/>
              </a:rPr>
              <a:t>KL( q(z | x) || p(z) )</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Ensures that the learned distribution q(z | x) is close to the prior p(z)</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Prevents the latent space from becoming disorganized</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This term acts as a regularizer </a:t>
            </a:r>
          </a:p>
          <a:p>
            <a:pPr algn="just">
              <a:lnSpc>
                <a:spcPts val="4929"/>
              </a:lnSpc>
            </a:pPr>
            <a:r>
              <a:rPr lang="en-US" b="true" sz="3399">
                <a:solidFill>
                  <a:srgbClr val="000000"/>
                </a:solidFill>
                <a:latin typeface="Canva Sans Bold"/>
                <a:ea typeface="Canva Sans Bold"/>
                <a:cs typeface="Canva Sans Bold"/>
                <a:sym typeface="Canva Sans Bold"/>
              </a:rPr>
              <a:t>Final Loss Function</a:t>
            </a:r>
          </a:p>
          <a:p>
            <a:pPr algn="just">
              <a:lnSpc>
                <a:spcPts val="4929"/>
              </a:lnSpc>
            </a:pPr>
            <a:r>
              <a:rPr lang="en-US" sz="3399">
                <a:solidFill>
                  <a:srgbClr val="000000"/>
                </a:solidFill>
                <a:latin typeface="Canva Sans"/>
                <a:ea typeface="Canva Sans"/>
                <a:cs typeface="Canva Sans"/>
                <a:sym typeface="Canva Sans"/>
              </a:rPr>
              <a:t>The total loss used to train the VAE consists of two parts:</a:t>
            </a:r>
          </a:p>
          <a:p>
            <a:pPr algn="just">
              <a:lnSpc>
                <a:spcPts val="4929"/>
              </a:lnSpc>
            </a:pPr>
            <a:r>
              <a:rPr lang="en-US" b="true" sz="3399">
                <a:solidFill>
                  <a:srgbClr val="000000"/>
                </a:solidFill>
                <a:latin typeface="Canva Sans Bold"/>
                <a:ea typeface="Canva Sans Bold"/>
                <a:cs typeface="Canva Sans Bold"/>
                <a:sym typeface="Canva Sans Bold"/>
              </a:rPr>
              <a:t>Loss = Reconstruction Loss + KL Divergence Loss</a:t>
            </a:r>
          </a:p>
          <a:p>
            <a:pPr algn="just">
              <a:lnSpc>
                <a:spcPts val="4929"/>
              </a:lnSpc>
            </a:pPr>
            <a:r>
              <a:rPr lang="en-US" sz="3399">
                <a:solidFill>
                  <a:srgbClr val="000000"/>
                </a:solidFill>
                <a:latin typeface="Canva Sans"/>
                <a:ea typeface="Canva Sans"/>
                <a:cs typeface="Canva Sans"/>
                <a:sym typeface="Canva Sans"/>
              </a:rPr>
              <a:t>Written as:  </a:t>
            </a:r>
          </a:p>
          <a:p>
            <a:pPr algn="just">
              <a:lnSpc>
                <a:spcPts val="4929"/>
              </a:lnSpc>
            </a:pPr>
            <a:r>
              <a:rPr lang="en-US" sz="3399">
                <a:solidFill>
                  <a:srgbClr val="000000"/>
                </a:solidFill>
                <a:latin typeface="Canva Sans"/>
                <a:ea typeface="Canva Sans"/>
                <a:cs typeface="Canva Sans"/>
                <a:sym typeface="Canva Sans"/>
              </a:rPr>
              <a:t>                </a:t>
            </a:r>
          </a:p>
          <a:p>
            <a:pPr algn="just">
              <a:lnSpc>
                <a:spcPts val="4929"/>
              </a:lnSpc>
            </a:pPr>
          </a:p>
          <a:p>
            <a:pPr algn="just">
              <a:lnSpc>
                <a:spcPts val="4929"/>
              </a:lnSpc>
            </a:pPr>
            <a:r>
              <a:rPr lang="en-US" sz="3399">
                <a:solidFill>
                  <a:srgbClr val="000000"/>
                </a:solidFill>
                <a:latin typeface="Canva Sans"/>
                <a:ea typeface="Canva Sans"/>
                <a:cs typeface="Canva Sans"/>
                <a:sym typeface="Canva Sans"/>
              </a:rPr>
              <a:t>Where:</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x = original input</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x_hat = reconstructed output</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j = latent dimension index</a:t>
            </a:r>
          </a:p>
          <a:p>
            <a:pPr algn="just">
              <a:lnSpc>
                <a:spcPts val="4929"/>
              </a:lnSpc>
            </a:pPr>
          </a:p>
          <a:p>
            <a:pPr algn="just">
              <a:lnSpc>
                <a:spcPts val="4929"/>
              </a:lnSpc>
            </a:pPr>
          </a:p>
          <a:p>
            <a:pPr algn="just">
              <a:lnSpc>
                <a:spcPts val="4929"/>
              </a:lnSpc>
            </a:pPr>
          </a:p>
        </p:txBody>
      </p:sp>
      <p:pic>
        <p:nvPicPr>
          <p:cNvPr name="Picture 6" id="6"/>
          <p:cNvPicPr>
            <a:picLocks noChangeAspect="true"/>
          </p:cNvPicPr>
          <p:nvPr/>
        </p:nvPicPr>
        <p:blipFill>
          <a:blip r:embed="rId4"/>
          <a:stretch>
            <a:fillRect/>
          </a:stretch>
        </p:blipFill>
        <p:spPr>
          <a:xfrm rot="0">
            <a:off x="2952734" y="5370431"/>
            <a:ext cx="9738360" cy="2768995"/>
          </a:xfrm>
          <a:prstGeom prst="rect">
            <a:avLst/>
          </a:prstGeom>
        </p:spPr>
      </p:pic>
    </p:spTree>
  </p:cSld>
  <p:clrMapOvr>
    <a:masterClrMapping/>
  </p:clrMapOvr>
</p:sld>
</file>

<file path=ppt/slides/slide15.xml><?xml version="1.0" encoding="utf-8"?>
<p:sld xmlns:p="http://schemas.openxmlformats.org/presentationml/2006/main" xmlns:a="http://schemas.openxmlformats.org/drawingml/2006/main">
  <p:cSld>
    <p:bg>
      <p:bgPr>
        <a:solidFill>
          <a:srgbClr val="F6E7DA"/>
        </a:solidFill>
      </p:bgPr>
    </p:bg>
    <p:spTree>
      <p:nvGrpSpPr>
        <p:cNvPr id="1" name=""/>
        <p:cNvGrpSpPr/>
        <p:nvPr/>
      </p:nvGrpSpPr>
      <p:grpSpPr>
        <a:xfrm>
          <a:off x="0" y="0"/>
          <a:ext cx="0" cy="0"/>
          <a:chOff x="0" y="0"/>
          <a:chExt cx="0" cy="0"/>
        </a:xfrm>
      </p:grpSpPr>
      <p:sp>
        <p:nvSpPr>
          <p:cNvPr name="TextBox 2" id="2"/>
          <p:cNvSpPr txBox="true"/>
          <p:nvPr/>
        </p:nvSpPr>
        <p:spPr>
          <a:xfrm rot="0">
            <a:off x="259364" y="712219"/>
            <a:ext cx="17769273" cy="8026400"/>
          </a:xfrm>
          <a:prstGeom prst="rect">
            <a:avLst/>
          </a:prstGeom>
        </p:spPr>
        <p:txBody>
          <a:bodyPr anchor="t" rtlCol="false" tIns="0" lIns="0" bIns="0" rIns="0">
            <a:spAutoFit/>
          </a:bodyPr>
          <a:lstStyle/>
          <a:p>
            <a:pPr algn="just">
              <a:lnSpc>
                <a:spcPts val="4929"/>
              </a:lnSpc>
            </a:pPr>
            <a:r>
              <a:rPr lang="en-US" sz="3399" b="true">
                <a:solidFill>
                  <a:srgbClr val="000000"/>
                </a:solidFill>
                <a:latin typeface="Canva Sans Bold"/>
                <a:ea typeface="Canva Sans Bold"/>
                <a:cs typeface="Canva Sans Bold"/>
                <a:sym typeface="Canva Sans Bold"/>
              </a:rPr>
              <a:t>What is EVAE?</a:t>
            </a:r>
          </a:p>
          <a:p>
            <a:pPr algn="just">
              <a:lnSpc>
                <a:spcPts val="4929"/>
              </a:lnSpc>
            </a:pPr>
            <a:r>
              <a:rPr lang="en-US" sz="3399">
                <a:solidFill>
                  <a:srgbClr val="000000"/>
                </a:solidFill>
                <a:latin typeface="Canva Sans"/>
                <a:ea typeface="Canva Sans"/>
                <a:cs typeface="Canva Sans"/>
                <a:sym typeface="Canva Sans"/>
              </a:rPr>
              <a:t>EVAE is a VAE where the latent distribution is built using an optimal kernel (Epanechnikov) instead of Gaussian, giving sharper reconstructions and better control over KL-divergence.</a:t>
            </a:r>
          </a:p>
          <a:p>
            <a:pPr algn="just">
              <a:lnSpc>
                <a:spcPts val="4929"/>
              </a:lnSpc>
            </a:pPr>
          </a:p>
          <a:p>
            <a:pPr algn="just">
              <a:lnSpc>
                <a:spcPts val="4929"/>
              </a:lnSpc>
            </a:pPr>
            <a:r>
              <a:rPr lang="en-US" sz="3399" b="true">
                <a:solidFill>
                  <a:srgbClr val="000000"/>
                </a:solidFill>
                <a:latin typeface="Canva Sans Bold"/>
                <a:ea typeface="Canva Sans Bold"/>
                <a:cs typeface="Canva Sans Bold"/>
                <a:sym typeface="Canva Sans Bold"/>
              </a:rPr>
              <a:t>What is Epanechnikov?</a:t>
            </a:r>
          </a:p>
          <a:p>
            <a:pPr algn="just">
              <a:lnSpc>
                <a:spcPts val="4929"/>
              </a:lnSpc>
            </a:pPr>
            <a:r>
              <a:rPr lang="en-US" sz="3399">
                <a:solidFill>
                  <a:srgbClr val="000000"/>
                </a:solidFill>
                <a:latin typeface="Canva Sans"/>
                <a:ea typeface="Canva Sans"/>
                <a:cs typeface="Canva Sans"/>
                <a:sym typeface="Canva Sans"/>
              </a:rPr>
              <a:t>Epanechnikov is a kernel that limits influence to nearby values only. Unlike Gaussian, it has a cutoff, so far-away noise is ignored. This makes density estimation and latent space learning more accurate and less blurry.</a:t>
            </a:r>
          </a:p>
          <a:p>
            <a:pPr algn="just">
              <a:lnSpc>
                <a:spcPts val="4929"/>
              </a:lnSpc>
            </a:pPr>
          </a:p>
          <a:p>
            <a:pPr algn="just">
              <a:lnSpc>
                <a:spcPts val="4929"/>
              </a:lnSpc>
            </a:pPr>
            <a:r>
              <a:rPr lang="en-US" sz="3399" b="true">
                <a:solidFill>
                  <a:srgbClr val="000000"/>
                </a:solidFill>
                <a:latin typeface="Canva Sans Bold"/>
                <a:ea typeface="Canva Sans Bold"/>
                <a:cs typeface="Canva Sans Bold"/>
                <a:sym typeface="Canva Sans Bold"/>
              </a:rPr>
              <a:t>What problem in VAE?</a:t>
            </a:r>
          </a:p>
          <a:p>
            <a:pPr algn="just">
              <a:lnSpc>
                <a:spcPts val="4929"/>
              </a:lnSpc>
            </a:pPr>
            <a:r>
              <a:rPr lang="en-US" sz="3399">
                <a:solidFill>
                  <a:srgbClr val="000000"/>
                </a:solidFill>
                <a:latin typeface="Canva Sans"/>
                <a:ea typeface="Canva Sans"/>
                <a:cs typeface="Canva Sans"/>
                <a:sym typeface="Canva Sans"/>
              </a:rPr>
              <a:t>VAE assumes the hidden (latent) space is Gaussian, and this assumption is too weak and too strict for real data.</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6E7DA"/>
        </a:solidFill>
      </p:bgPr>
    </p:bg>
    <p:spTree>
      <p:nvGrpSpPr>
        <p:cNvPr id="1" name=""/>
        <p:cNvGrpSpPr/>
        <p:nvPr/>
      </p:nvGrpSpPr>
      <p:grpSpPr>
        <a:xfrm>
          <a:off x="0" y="0"/>
          <a:ext cx="0" cy="0"/>
          <a:chOff x="0" y="0"/>
          <a:chExt cx="0" cy="0"/>
        </a:xfrm>
      </p:grpSpPr>
      <p:sp>
        <p:nvSpPr>
          <p:cNvPr name="TextBox 2" id="2"/>
          <p:cNvSpPr txBox="true"/>
          <p:nvPr/>
        </p:nvSpPr>
        <p:spPr>
          <a:xfrm rot="0">
            <a:off x="259364" y="942975"/>
            <a:ext cx="17769273" cy="7407275"/>
          </a:xfrm>
          <a:prstGeom prst="rect">
            <a:avLst/>
          </a:prstGeom>
        </p:spPr>
        <p:txBody>
          <a:bodyPr anchor="t" rtlCol="false" tIns="0" lIns="0" bIns="0" rIns="0">
            <a:spAutoFit/>
          </a:bodyPr>
          <a:lstStyle/>
          <a:p>
            <a:pPr algn="just">
              <a:lnSpc>
                <a:spcPts val="4929"/>
              </a:lnSpc>
            </a:pPr>
            <a:r>
              <a:rPr lang="en-US" sz="3399" b="true">
                <a:solidFill>
                  <a:srgbClr val="000000"/>
                </a:solidFill>
                <a:latin typeface="Canva Sans Bold"/>
                <a:ea typeface="Canva Sans Bold"/>
                <a:cs typeface="Canva Sans Bold"/>
                <a:sym typeface="Canva Sans Bold"/>
              </a:rPr>
              <a:t>Proble</a:t>
            </a:r>
            <a:r>
              <a:rPr lang="en-US" sz="3399" b="true">
                <a:solidFill>
                  <a:srgbClr val="000000"/>
                </a:solidFill>
                <a:latin typeface="Canva Sans Bold"/>
                <a:ea typeface="Canva Sans Bold"/>
                <a:cs typeface="Canva Sans Bold"/>
                <a:sym typeface="Canva Sans Bold"/>
              </a:rPr>
              <a:t>ms caused by Gaussian assumption in VAE:</a:t>
            </a:r>
          </a:p>
          <a:p>
            <a:pPr algn="just" marL="734059" indent="-367030" lvl="1">
              <a:lnSpc>
                <a:spcPts val="4929"/>
              </a:lnSpc>
              <a:buAutoNum type="arabicPeriod" startAt="1"/>
            </a:pPr>
            <a:r>
              <a:rPr lang="en-US" sz="3399">
                <a:solidFill>
                  <a:srgbClr val="000000"/>
                </a:solidFill>
                <a:latin typeface="Canva Sans"/>
                <a:ea typeface="Canva Sans"/>
                <a:cs typeface="Canva Sans"/>
                <a:sym typeface="Canva Sans"/>
              </a:rPr>
              <a:t>Latent space is too simple, VAE makes every input look like bell curve shape, but real data is complex not bell shaped. This leads to features loss.</a:t>
            </a:r>
          </a:p>
          <a:p>
            <a:pPr algn="just" marL="734059" indent="-367030" lvl="1">
              <a:lnSpc>
                <a:spcPts val="4929"/>
              </a:lnSpc>
              <a:buAutoNum type="arabicPeriod" startAt="1"/>
            </a:pPr>
            <a:r>
              <a:rPr lang="en-US" sz="3399">
                <a:solidFill>
                  <a:srgbClr val="000000"/>
                </a:solidFill>
                <a:latin typeface="Canva Sans"/>
                <a:ea typeface="Canva Sans"/>
                <a:cs typeface="Canva Sans"/>
                <a:sym typeface="Canva Sans"/>
              </a:rPr>
              <a:t>Posterior collapse, VAE forces latent distribution to match [𝒩(0, 1)] and Encoder stops sending useful information. This leads to useless latent space sometimes and decoder ignores (z).</a:t>
            </a:r>
          </a:p>
          <a:p>
            <a:pPr algn="just" marL="734059" indent="-367030" lvl="1">
              <a:lnSpc>
                <a:spcPts val="4929"/>
              </a:lnSpc>
              <a:buAutoNum type="arabicPeriod" startAt="1"/>
            </a:pPr>
            <a:r>
              <a:rPr lang="en-US" sz="3399">
                <a:solidFill>
                  <a:srgbClr val="000000"/>
                </a:solidFill>
                <a:latin typeface="Canva Sans"/>
                <a:ea typeface="Canva Sans"/>
                <a:cs typeface="Canva Sans"/>
                <a:sym typeface="Canva Sans"/>
              </a:rPr>
              <a:t>Blurry images, Gaussian spreads everywhere (−∞ to +∞) no boundary. By this Decoder has many average possibilities, So this results blurry images while generating.</a:t>
            </a:r>
          </a:p>
          <a:p>
            <a:pPr algn="just" marL="734059" indent="-367030" lvl="1">
              <a:lnSpc>
                <a:spcPts val="4929"/>
              </a:lnSpc>
              <a:buAutoNum type="arabicPeriod" startAt="1"/>
            </a:pPr>
            <a:r>
              <a:rPr lang="en-US" sz="3399">
                <a:solidFill>
                  <a:srgbClr val="000000"/>
                </a:solidFill>
                <a:latin typeface="Canva Sans"/>
                <a:ea typeface="Canva Sans"/>
                <a:cs typeface="Canva Sans"/>
                <a:sym typeface="Canva Sans"/>
              </a:rPr>
              <a:t>Weak KL regularization control, KL terms in VAE is too strong it forces latent space to stay near to the bell structure (Gaussian),which stops the model from learning rich and useful representations.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6E7DA"/>
        </a:solidFill>
      </p:bgPr>
    </p:bg>
    <p:spTree>
      <p:nvGrpSpPr>
        <p:cNvPr id="1" name=""/>
        <p:cNvGrpSpPr/>
        <p:nvPr/>
      </p:nvGrpSpPr>
      <p:grpSpPr>
        <a:xfrm>
          <a:off x="0" y="0"/>
          <a:ext cx="0" cy="0"/>
          <a:chOff x="0" y="0"/>
          <a:chExt cx="0" cy="0"/>
        </a:xfrm>
      </p:grpSpPr>
      <p:sp>
        <p:nvSpPr>
          <p:cNvPr name="TextBox 2" id="2"/>
          <p:cNvSpPr txBox="true"/>
          <p:nvPr/>
        </p:nvSpPr>
        <p:spPr>
          <a:xfrm rot="0">
            <a:off x="259364" y="1197057"/>
            <a:ext cx="17769273" cy="6169025"/>
          </a:xfrm>
          <a:prstGeom prst="rect">
            <a:avLst/>
          </a:prstGeom>
        </p:spPr>
        <p:txBody>
          <a:bodyPr anchor="t" rtlCol="false" tIns="0" lIns="0" bIns="0" rIns="0">
            <a:spAutoFit/>
          </a:bodyPr>
          <a:lstStyle/>
          <a:p>
            <a:pPr algn="just">
              <a:lnSpc>
                <a:spcPts val="4929"/>
              </a:lnSpc>
            </a:pPr>
            <a:r>
              <a:rPr lang="en-US" sz="3399" b="true">
                <a:solidFill>
                  <a:srgbClr val="000000"/>
                </a:solidFill>
                <a:latin typeface="Canva Sans Bold"/>
                <a:ea typeface="Canva Sans Bold"/>
                <a:cs typeface="Canva Sans Bold"/>
                <a:sym typeface="Canva Sans Bold"/>
              </a:rPr>
              <a:t>W</a:t>
            </a:r>
            <a:r>
              <a:rPr lang="en-US" sz="3399" b="true">
                <a:solidFill>
                  <a:srgbClr val="000000"/>
                </a:solidFill>
                <a:latin typeface="Canva Sans Bold"/>
                <a:ea typeface="Canva Sans Bold"/>
                <a:cs typeface="Canva Sans Bold"/>
                <a:sym typeface="Canva Sans Bold"/>
              </a:rPr>
              <a:t>hat does E</a:t>
            </a:r>
            <a:r>
              <a:rPr lang="en-US" sz="3399" b="true">
                <a:solidFill>
                  <a:srgbClr val="000000"/>
                </a:solidFill>
                <a:latin typeface="Canva Sans Bold"/>
                <a:ea typeface="Canva Sans Bold"/>
                <a:cs typeface="Canva Sans Bold"/>
                <a:sym typeface="Canva Sans Bold"/>
              </a:rPr>
              <a:t>VAE do differently?</a:t>
            </a:r>
          </a:p>
          <a:p>
            <a:pPr algn="just">
              <a:lnSpc>
                <a:spcPts val="4929"/>
              </a:lnSpc>
            </a:pPr>
            <a:r>
              <a:rPr lang="en-US" sz="3399">
                <a:solidFill>
                  <a:srgbClr val="000000"/>
                </a:solidFill>
                <a:latin typeface="Canva Sans"/>
                <a:ea typeface="Canva Sans"/>
                <a:cs typeface="Canva Sans"/>
                <a:sym typeface="Canva Sans"/>
              </a:rPr>
              <a:t>EVAE only changes one thing mainly, that is instead of using Gaussian it uses kernel-based distribution in it’s latent space.</a:t>
            </a:r>
          </a:p>
          <a:p>
            <a:pPr algn="just">
              <a:lnSpc>
                <a:spcPts val="4929"/>
              </a:lnSpc>
            </a:pPr>
          </a:p>
          <a:p>
            <a:pPr algn="just">
              <a:lnSpc>
                <a:spcPts val="4929"/>
              </a:lnSpc>
            </a:pPr>
            <a:r>
              <a:rPr lang="en-US" sz="3399" b="true">
                <a:solidFill>
                  <a:srgbClr val="000000"/>
                </a:solidFill>
                <a:latin typeface="Canva Sans Bold"/>
                <a:ea typeface="Canva Sans Bold"/>
                <a:cs typeface="Canva Sans Bold"/>
                <a:sym typeface="Canva Sans Bold"/>
              </a:rPr>
              <a:t>What is this Kernel?</a:t>
            </a:r>
          </a:p>
          <a:p>
            <a:pPr algn="just">
              <a:lnSpc>
                <a:spcPts val="4929"/>
              </a:lnSpc>
            </a:pPr>
            <a:r>
              <a:rPr lang="en-US" sz="3399">
                <a:solidFill>
                  <a:srgbClr val="000000"/>
                </a:solidFill>
                <a:latin typeface="Canva Sans"/>
                <a:ea typeface="Canva Sans"/>
                <a:cs typeface="Canva Sans"/>
                <a:sym typeface="Canva Sans"/>
              </a:rPr>
              <a:t>Think of a kernel as:</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A local bump</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Focused around a center</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Has clear boundaries</a:t>
            </a:r>
          </a:p>
          <a:p>
            <a:pPr algn="just">
              <a:lnSpc>
                <a:spcPts val="4929"/>
              </a:lnSpc>
            </a:pPr>
            <a:r>
              <a:rPr lang="en-US" sz="3399">
                <a:solidFill>
                  <a:srgbClr val="000000"/>
                </a:solidFill>
                <a:latin typeface="Canva Sans"/>
                <a:ea typeface="Canva Sans"/>
                <a:cs typeface="Canva Sans"/>
                <a:sym typeface="Canva Sans"/>
              </a:rPr>
              <a:t>Unlike Gaussian’s spreads everywhere </a:t>
            </a:r>
          </a:p>
        </p:txBody>
      </p:sp>
      <p:sp>
        <p:nvSpPr>
          <p:cNvPr name="Freeform 3" id="3"/>
          <p:cNvSpPr/>
          <p:nvPr/>
        </p:nvSpPr>
        <p:spPr>
          <a:xfrm flipH="false" flipV="false" rot="0">
            <a:off x="9330292" y="5473865"/>
            <a:ext cx="8830349" cy="3784435"/>
          </a:xfrm>
          <a:custGeom>
            <a:avLst/>
            <a:gdLst/>
            <a:ahLst/>
            <a:cxnLst/>
            <a:rect r="r" b="b" t="t" l="l"/>
            <a:pathLst>
              <a:path h="3784435" w="8830349">
                <a:moveTo>
                  <a:pt x="0" y="0"/>
                </a:moveTo>
                <a:lnTo>
                  <a:pt x="8830348" y="0"/>
                </a:lnTo>
                <a:lnTo>
                  <a:pt x="8830348" y="3784435"/>
                </a:lnTo>
                <a:lnTo>
                  <a:pt x="0" y="3784435"/>
                </a:lnTo>
                <a:lnTo>
                  <a:pt x="0" y="0"/>
                </a:lnTo>
                <a:close/>
              </a:path>
            </a:pathLst>
          </a:custGeom>
          <a:blipFill>
            <a:blip r:embed="rId2"/>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6E7DA"/>
        </a:solidFill>
      </p:bgPr>
    </p:bg>
    <p:spTree>
      <p:nvGrpSpPr>
        <p:cNvPr id="1" name=""/>
        <p:cNvGrpSpPr/>
        <p:nvPr/>
      </p:nvGrpSpPr>
      <p:grpSpPr>
        <a:xfrm>
          <a:off x="0" y="0"/>
          <a:ext cx="0" cy="0"/>
          <a:chOff x="0" y="0"/>
          <a:chExt cx="0" cy="0"/>
        </a:xfrm>
      </p:grpSpPr>
      <p:sp>
        <p:nvSpPr>
          <p:cNvPr name="TextBox 2" id="2"/>
          <p:cNvSpPr txBox="true"/>
          <p:nvPr/>
        </p:nvSpPr>
        <p:spPr>
          <a:xfrm rot="0">
            <a:off x="259364" y="1086545"/>
            <a:ext cx="17769273" cy="7407275"/>
          </a:xfrm>
          <a:prstGeom prst="rect">
            <a:avLst/>
          </a:prstGeom>
        </p:spPr>
        <p:txBody>
          <a:bodyPr anchor="t" rtlCol="false" tIns="0" lIns="0" bIns="0" rIns="0">
            <a:spAutoFit/>
          </a:bodyPr>
          <a:lstStyle/>
          <a:p>
            <a:pPr algn="just">
              <a:lnSpc>
                <a:spcPts val="4929"/>
              </a:lnSpc>
            </a:pPr>
            <a:r>
              <a:rPr lang="en-US" sz="3399" b="true">
                <a:solidFill>
                  <a:srgbClr val="000000"/>
                </a:solidFill>
                <a:latin typeface="Canva Sans Bold"/>
                <a:ea typeface="Canva Sans Bold"/>
                <a:cs typeface="Canva Sans Bold"/>
                <a:sym typeface="Canva Sans Bold"/>
              </a:rPr>
              <a:t>P</a:t>
            </a:r>
            <a:r>
              <a:rPr lang="en-US" sz="3399" b="true">
                <a:solidFill>
                  <a:srgbClr val="000000"/>
                </a:solidFill>
                <a:latin typeface="Canva Sans Bold"/>
                <a:ea typeface="Canva Sans Bold"/>
                <a:cs typeface="Canva Sans Bold"/>
                <a:sym typeface="Canva Sans Bold"/>
              </a:rPr>
              <a:t>r</a:t>
            </a:r>
            <a:r>
              <a:rPr lang="en-US" sz="3399" b="true">
                <a:solidFill>
                  <a:srgbClr val="000000"/>
                </a:solidFill>
                <a:latin typeface="Canva Sans Bold"/>
                <a:ea typeface="Canva Sans Bold"/>
                <a:cs typeface="Canva Sans Bold"/>
                <a:sym typeface="Canva Sans Bold"/>
              </a:rPr>
              <a:t>oblem 1: Latent space is too sim</a:t>
            </a:r>
            <a:r>
              <a:rPr lang="en-US" sz="3399" b="true">
                <a:solidFill>
                  <a:srgbClr val="000000"/>
                </a:solidFill>
                <a:latin typeface="Canva Sans Bold"/>
                <a:ea typeface="Canva Sans Bold"/>
                <a:cs typeface="Canva Sans Bold"/>
                <a:sym typeface="Canva Sans Bold"/>
              </a:rPr>
              <a:t>ple</a:t>
            </a:r>
          </a:p>
          <a:p>
            <a:pPr algn="just">
              <a:lnSpc>
                <a:spcPts val="4929"/>
              </a:lnSpc>
            </a:pPr>
          </a:p>
          <a:p>
            <a:pPr algn="just">
              <a:lnSpc>
                <a:spcPts val="4929"/>
              </a:lnSpc>
            </a:pPr>
            <a:r>
              <a:rPr lang="en-US" sz="3399">
                <a:solidFill>
                  <a:srgbClr val="000000"/>
                </a:solidFill>
                <a:latin typeface="Canva Sans"/>
                <a:ea typeface="Canva Sans"/>
                <a:cs typeface="Canva Sans"/>
                <a:sym typeface="Canva Sans"/>
              </a:rPr>
              <a:t>VAE assumes:  </a:t>
            </a:r>
          </a:p>
          <a:p>
            <a:pPr algn="just">
              <a:lnSpc>
                <a:spcPts val="4929"/>
              </a:lnSpc>
            </a:pPr>
            <a:r>
              <a:rPr lang="en-US" sz="3399">
                <a:solidFill>
                  <a:srgbClr val="000000"/>
                </a:solidFill>
                <a:latin typeface="Canva Sans"/>
                <a:ea typeface="Canva Sans"/>
                <a:cs typeface="Canva Sans"/>
                <a:sym typeface="Canva Sans"/>
              </a:rPr>
              <a:t>here every input is forced to be in bell shape, but real data is complex.</a:t>
            </a:r>
          </a:p>
          <a:p>
            <a:pPr algn="just">
              <a:lnSpc>
                <a:spcPts val="4929"/>
              </a:lnSpc>
            </a:pPr>
          </a:p>
          <a:p>
            <a:pPr algn="just">
              <a:lnSpc>
                <a:spcPts val="4929"/>
              </a:lnSpc>
            </a:pPr>
            <a:r>
              <a:rPr lang="en-US" sz="3399">
                <a:solidFill>
                  <a:srgbClr val="000000"/>
                </a:solidFill>
                <a:latin typeface="Canva Sans"/>
                <a:ea typeface="Canva Sans"/>
                <a:cs typeface="Canva Sans"/>
                <a:sym typeface="Canva Sans"/>
              </a:rPr>
              <a:t>EVAE models the posterior as a kernel density:</a:t>
            </a:r>
          </a:p>
          <a:p>
            <a:pPr algn="just">
              <a:lnSpc>
                <a:spcPts val="4929"/>
              </a:lnSpc>
            </a:pPr>
          </a:p>
          <a:p>
            <a:pPr algn="just">
              <a:lnSpc>
                <a:spcPts val="4929"/>
              </a:lnSpc>
            </a:pPr>
            <a:r>
              <a:rPr lang="en-US" sz="3399">
                <a:solidFill>
                  <a:srgbClr val="000000"/>
                </a:solidFill>
                <a:latin typeface="Canva Sans"/>
                <a:ea typeface="Canva Sans"/>
                <a:cs typeface="Canva Sans"/>
                <a:sym typeface="Canva Sans"/>
              </a:rPr>
              <a:t>here</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K(⋅)) → kernel function (Epanechnikov)</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Zj → samples from prior</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b(m) → small scaling factor (step size)</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m → number of samples</a:t>
            </a:r>
          </a:p>
        </p:txBody>
      </p:sp>
      <p:sp>
        <p:nvSpPr>
          <p:cNvPr name="Freeform 3" id="3"/>
          <p:cNvSpPr/>
          <p:nvPr/>
        </p:nvSpPr>
        <p:spPr>
          <a:xfrm flipH="false" flipV="false" rot="0">
            <a:off x="9603268" y="3510264"/>
            <a:ext cx="6882282" cy="1995862"/>
          </a:xfrm>
          <a:custGeom>
            <a:avLst/>
            <a:gdLst/>
            <a:ahLst/>
            <a:cxnLst/>
            <a:rect r="r" b="b" t="t" l="l"/>
            <a:pathLst>
              <a:path h="1995862" w="6882282">
                <a:moveTo>
                  <a:pt x="0" y="0"/>
                </a:moveTo>
                <a:lnTo>
                  <a:pt x="6882283" y="0"/>
                </a:lnTo>
                <a:lnTo>
                  <a:pt x="6882283" y="1995862"/>
                </a:lnTo>
                <a:lnTo>
                  <a:pt x="0" y="1995862"/>
                </a:lnTo>
                <a:lnTo>
                  <a:pt x="0" y="0"/>
                </a:lnTo>
                <a:close/>
              </a:path>
            </a:pathLst>
          </a:custGeom>
          <a:blipFill>
            <a:blip r:embed="rId2"/>
            <a:stretch>
              <a:fillRect l="0" t="0" r="0" b="0"/>
            </a:stretch>
          </a:blipFill>
        </p:spPr>
      </p:sp>
      <p:pic>
        <p:nvPicPr>
          <p:cNvPr name="Picture 4" id="4"/>
          <p:cNvPicPr>
            <a:picLocks noChangeAspect="true"/>
          </p:cNvPicPr>
          <p:nvPr/>
        </p:nvPicPr>
        <p:blipFill>
          <a:blip r:embed="rId3"/>
          <a:stretch>
            <a:fillRect/>
          </a:stretch>
        </p:blipFill>
        <p:spPr>
          <a:xfrm rot="0">
            <a:off x="2926146" y="1676703"/>
            <a:ext cx="7284133" cy="1855346"/>
          </a:xfrm>
          <a:prstGeom prst="rect">
            <a:avLst/>
          </a:prstGeom>
        </p:spPr>
      </p:pic>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6E7DA"/>
        </a:solidFill>
      </p:bgPr>
    </p:bg>
    <p:spTree>
      <p:nvGrpSpPr>
        <p:cNvPr id="1" name=""/>
        <p:cNvGrpSpPr/>
        <p:nvPr/>
      </p:nvGrpSpPr>
      <p:grpSpPr>
        <a:xfrm>
          <a:off x="0" y="0"/>
          <a:ext cx="0" cy="0"/>
          <a:chOff x="0" y="0"/>
          <a:chExt cx="0" cy="0"/>
        </a:xfrm>
      </p:grpSpPr>
      <p:sp>
        <p:nvSpPr>
          <p:cNvPr name="TextBox 2" id="2"/>
          <p:cNvSpPr txBox="true"/>
          <p:nvPr/>
        </p:nvSpPr>
        <p:spPr>
          <a:xfrm rot="0">
            <a:off x="268889" y="251359"/>
            <a:ext cx="17769273" cy="9264650"/>
          </a:xfrm>
          <a:prstGeom prst="rect">
            <a:avLst/>
          </a:prstGeom>
        </p:spPr>
        <p:txBody>
          <a:bodyPr anchor="t" rtlCol="false" tIns="0" lIns="0" bIns="0" rIns="0">
            <a:spAutoFit/>
          </a:bodyPr>
          <a:lstStyle/>
          <a:p>
            <a:pPr algn="just">
              <a:lnSpc>
                <a:spcPts val="4929"/>
              </a:lnSpc>
            </a:pPr>
            <a:r>
              <a:rPr lang="en-US" sz="3399" b="true">
                <a:solidFill>
                  <a:srgbClr val="000000"/>
                </a:solidFill>
                <a:latin typeface="Canva Sans Bold"/>
                <a:ea typeface="Canva Sans Bold"/>
                <a:cs typeface="Canva Sans Bold"/>
                <a:sym typeface="Canva Sans Bold"/>
              </a:rPr>
              <a:t>P</a:t>
            </a:r>
            <a:r>
              <a:rPr lang="en-US" sz="3399" b="true">
                <a:solidFill>
                  <a:srgbClr val="000000"/>
                </a:solidFill>
                <a:latin typeface="Canva Sans Bold"/>
                <a:ea typeface="Canva Sans Bold"/>
                <a:cs typeface="Canva Sans Bold"/>
                <a:sym typeface="Canva Sans Bold"/>
              </a:rPr>
              <a:t>r</a:t>
            </a:r>
            <a:r>
              <a:rPr lang="en-US" sz="3399" b="true">
                <a:solidFill>
                  <a:srgbClr val="000000"/>
                </a:solidFill>
                <a:latin typeface="Canva Sans Bold"/>
                <a:ea typeface="Canva Sans Bold"/>
                <a:cs typeface="Canva Sans Bold"/>
                <a:sym typeface="Canva Sans Bold"/>
              </a:rPr>
              <a:t>oblem 2: Posterior collapse</a:t>
            </a:r>
          </a:p>
          <a:p>
            <a:pPr algn="just">
              <a:lnSpc>
                <a:spcPts val="4929"/>
              </a:lnSpc>
            </a:pPr>
            <a:r>
              <a:rPr lang="en-US" sz="3399">
                <a:solidFill>
                  <a:srgbClr val="000000"/>
                </a:solidFill>
                <a:latin typeface="Canva Sans"/>
                <a:ea typeface="Canva Sans"/>
                <a:cs typeface="Canva Sans"/>
                <a:sym typeface="Canva Sans"/>
              </a:rPr>
              <a:t>VAE minimizes KL divergence:     KL(qϕ​(z∣x)∥p(z))     With:    p(z)=  𝒩(0, 1)</a:t>
            </a:r>
          </a:p>
          <a:p>
            <a:pPr algn="just">
              <a:lnSpc>
                <a:spcPts val="4929"/>
              </a:lnSpc>
            </a:pPr>
            <a:r>
              <a:rPr lang="en-US" sz="3399">
                <a:solidFill>
                  <a:srgbClr val="000000"/>
                </a:solidFill>
                <a:latin typeface="Canva Sans"/>
                <a:ea typeface="Canva Sans"/>
                <a:cs typeface="Canva Sans"/>
                <a:sym typeface="Canva Sans"/>
              </a:rPr>
              <a:t>For Gaussians, KL becomes:</a:t>
            </a:r>
          </a:p>
          <a:p>
            <a:pPr algn="just">
              <a:lnSpc>
                <a:spcPts val="4929"/>
              </a:lnSpc>
            </a:pPr>
            <a:r>
              <a:rPr lang="en-US" sz="3399">
                <a:solidFill>
                  <a:srgbClr val="000000"/>
                </a:solidFill>
                <a:latin typeface="Canva Sans"/>
                <a:ea typeface="Canva Sans"/>
                <a:cs typeface="Canva Sans"/>
                <a:sym typeface="Canva Sans"/>
              </a:rPr>
              <a:t>KL=(1/2)||μϕ​(x)||^2</a:t>
            </a:r>
          </a:p>
          <a:p>
            <a:pPr algn="just">
              <a:lnSpc>
                <a:spcPts val="4929"/>
              </a:lnSpc>
            </a:pPr>
            <a:r>
              <a:rPr lang="en-US" sz="3399">
                <a:solidFill>
                  <a:srgbClr val="000000"/>
                </a:solidFill>
                <a:latin typeface="Canva Sans"/>
                <a:ea typeface="Canva Sans"/>
                <a:cs typeface="Canva Sans"/>
                <a:sym typeface="Canva Sans"/>
              </a:rPr>
              <a:t>if μϕ is large the big divergence, best solve is μϕ is near to zero, this says that don’t send data greater 1 from data, but data can be larger and loses useful Information.</a:t>
            </a:r>
          </a:p>
          <a:p>
            <a:pPr algn="just">
              <a:lnSpc>
                <a:spcPts val="4929"/>
              </a:lnSpc>
            </a:pPr>
          </a:p>
          <a:p>
            <a:pPr algn="just">
              <a:lnSpc>
                <a:spcPts val="4929"/>
              </a:lnSpc>
            </a:pPr>
            <a:r>
              <a:rPr lang="en-US" sz="3399">
                <a:solidFill>
                  <a:srgbClr val="000000"/>
                </a:solidFill>
                <a:latin typeface="Canva Sans"/>
                <a:ea typeface="Canva Sans"/>
                <a:cs typeface="Canva Sans"/>
                <a:sym typeface="Canva Sans"/>
              </a:rPr>
              <a:t>EVAE does not use exact KL, but uses this inequality to reduce bigger divergence,</a:t>
            </a:r>
          </a:p>
          <a:p>
            <a:pPr algn="just">
              <a:lnSpc>
                <a:spcPts val="4929"/>
              </a:lnSpc>
            </a:pPr>
          </a:p>
          <a:p>
            <a:pPr algn="just">
              <a:lnSpc>
                <a:spcPts val="4929"/>
              </a:lnSpc>
            </a:pPr>
          </a:p>
          <a:p>
            <a:pPr algn="just">
              <a:lnSpc>
                <a:spcPts val="4929"/>
              </a:lnSpc>
            </a:pPr>
          </a:p>
          <a:p>
            <a:pPr algn="just">
              <a:lnSpc>
                <a:spcPts val="4929"/>
              </a:lnSpc>
            </a:pPr>
            <a:r>
              <a:rPr lang="en-US" sz="3399">
                <a:solidFill>
                  <a:srgbClr val="000000"/>
                </a:solidFill>
                <a:latin typeface="Canva Sans"/>
                <a:ea typeface="Canva Sans"/>
                <a:cs typeface="Canva Sans"/>
                <a:sym typeface="Canva Sans"/>
              </a:rPr>
              <a:t>What this means:</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EVAE minimizes an upper bound</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Not the strict KL</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Less punishment on encoder</a:t>
            </a:r>
          </a:p>
        </p:txBody>
      </p:sp>
      <p:sp>
        <p:nvSpPr>
          <p:cNvPr name="Freeform 3" id="3"/>
          <p:cNvSpPr/>
          <p:nvPr/>
        </p:nvSpPr>
        <p:spPr>
          <a:xfrm flipH="false" flipV="false" rot="0">
            <a:off x="5088457" y="5348733"/>
            <a:ext cx="6793617" cy="1499222"/>
          </a:xfrm>
          <a:custGeom>
            <a:avLst/>
            <a:gdLst/>
            <a:ahLst/>
            <a:cxnLst/>
            <a:rect r="r" b="b" t="t" l="l"/>
            <a:pathLst>
              <a:path h="1499222" w="6793617">
                <a:moveTo>
                  <a:pt x="0" y="0"/>
                </a:moveTo>
                <a:lnTo>
                  <a:pt x="6793617" y="0"/>
                </a:lnTo>
                <a:lnTo>
                  <a:pt x="6793617" y="1499222"/>
                </a:lnTo>
                <a:lnTo>
                  <a:pt x="0" y="1499222"/>
                </a:lnTo>
                <a:lnTo>
                  <a:pt x="0" y="0"/>
                </a:lnTo>
                <a:close/>
              </a:path>
            </a:pathLst>
          </a:custGeom>
          <a:blipFill>
            <a:blip r:embed="rId2"/>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p:cSld>
    <p:bg>
      <p:bgPr>
        <a:solidFill>
          <a:srgbClr val="F6E7DA"/>
        </a:solidFill>
      </p:bgPr>
    </p:bg>
    <p:spTree>
      <p:nvGrpSpPr>
        <p:cNvPr id="1" name=""/>
        <p:cNvGrpSpPr/>
        <p:nvPr/>
      </p:nvGrpSpPr>
      <p:grpSpPr>
        <a:xfrm>
          <a:off x="0" y="0"/>
          <a:ext cx="0" cy="0"/>
          <a:chOff x="0" y="0"/>
          <a:chExt cx="0" cy="0"/>
        </a:xfrm>
      </p:grpSpPr>
      <p:sp>
        <p:nvSpPr>
          <p:cNvPr name="TextBox 2" id="2"/>
          <p:cNvSpPr txBox="true"/>
          <p:nvPr/>
        </p:nvSpPr>
        <p:spPr>
          <a:xfrm rot="0">
            <a:off x="740931" y="1235355"/>
            <a:ext cx="17769273" cy="7407275"/>
          </a:xfrm>
          <a:prstGeom prst="rect">
            <a:avLst/>
          </a:prstGeom>
        </p:spPr>
        <p:txBody>
          <a:bodyPr anchor="t" rtlCol="false" tIns="0" lIns="0" bIns="0" rIns="0">
            <a:spAutoFit/>
          </a:bodyPr>
          <a:lstStyle/>
          <a:p>
            <a:pPr algn="just">
              <a:lnSpc>
                <a:spcPts val="4929"/>
              </a:lnSpc>
            </a:pPr>
            <a:r>
              <a:rPr lang="en-US" sz="3399">
                <a:solidFill>
                  <a:srgbClr val="000000"/>
                </a:solidFill>
                <a:latin typeface="Canva Sans"/>
                <a:ea typeface="Canva Sans"/>
                <a:cs typeface="Canva Sans"/>
                <a:sym typeface="Canva Sans"/>
              </a:rPr>
              <a:t>In EVAE objective:</a:t>
            </a:r>
          </a:p>
          <a:p>
            <a:pPr algn="just">
              <a:lnSpc>
                <a:spcPts val="4929"/>
              </a:lnSpc>
            </a:pPr>
            <a:r>
              <a:rPr lang="en-US" sz="3399">
                <a:solidFill>
                  <a:srgbClr val="000000"/>
                </a:solidFill>
                <a:latin typeface="Canva Sans"/>
                <a:ea typeface="Canva Sans"/>
                <a:cs typeface="Canva Sans"/>
                <a:sym typeface="Canva Sans"/>
              </a:rPr>
              <a:t>Regularization  ≈ (B/n)I(K)</a:t>
            </a:r>
          </a:p>
          <a:p>
            <a:pPr algn="just">
              <a:lnSpc>
                <a:spcPts val="4929"/>
              </a:lnSpc>
            </a:pPr>
          </a:p>
          <a:p>
            <a:pPr algn="just">
              <a:lnSpc>
                <a:spcPts val="4929"/>
              </a:lnSpc>
            </a:pPr>
            <a:r>
              <a:rPr lang="en-US" sz="3399">
                <a:solidFill>
                  <a:srgbClr val="000000"/>
                </a:solidFill>
                <a:latin typeface="Canva Sans"/>
                <a:ea typeface="Canva Sans"/>
                <a:cs typeface="Canva Sans"/>
                <a:sym typeface="Canva Sans"/>
              </a:rPr>
              <a:t>Where:</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B → support length (constant)</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n → batch size</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I(K)=∫(K^2)(t) dt</a:t>
            </a:r>
          </a:p>
          <a:p>
            <a:pPr algn="just">
              <a:lnSpc>
                <a:spcPts val="4929"/>
              </a:lnSpc>
            </a:pPr>
          </a:p>
          <a:p>
            <a:pPr algn="just">
              <a:lnSpc>
                <a:spcPts val="4929"/>
              </a:lnSpc>
            </a:pPr>
            <a:r>
              <a:rPr lang="en-US" sz="3399">
                <a:solidFill>
                  <a:srgbClr val="000000"/>
                </a:solidFill>
                <a:latin typeface="Canva Sans"/>
                <a:ea typeface="Canva Sans"/>
                <a:cs typeface="Canva Sans"/>
                <a:sym typeface="Canva Sans"/>
              </a:rPr>
              <a:t>Result:</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Encoder is not forced to zero</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Latent space stays informative</a:t>
            </a:r>
          </a:p>
          <a:p>
            <a:pPr algn="just">
              <a:lnSpc>
                <a:spcPts val="4929"/>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6E7DA"/>
        </a:solidFill>
      </p:bgPr>
    </p:bg>
    <p:spTree>
      <p:nvGrpSpPr>
        <p:cNvPr id="1" name=""/>
        <p:cNvGrpSpPr/>
        <p:nvPr/>
      </p:nvGrpSpPr>
      <p:grpSpPr>
        <a:xfrm>
          <a:off x="0" y="0"/>
          <a:ext cx="0" cy="0"/>
          <a:chOff x="0" y="0"/>
          <a:chExt cx="0" cy="0"/>
        </a:xfrm>
      </p:grpSpPr>
      <p:sp>
        <p:nvSpPr>
          <p:cNvPr name="TextBox 2" id="2"/>
          <p:cNvSpPr txBox="true"/>
          <p:nvPr/>
        </p:nvSpPr>
        <p:spPr>
          <a:xfrm rot="0">
            <a:off x="259364" y="515416"/>
            <a:ext cx="17769273" cy="8026400"/>
          </a:xfrm>
          <a:prstGeom prst="rect">
            <a:avLst/>
          </a:prstGeom>
        </p:spPr>
        <p:txBody>
          <a:bodyPr anchor="t" rtlCol="false" tIns="0" lIns="0" bIns="0" rIns="0">
            <a:spAutoFit/>
          </a:bodyPr>
          <a:lstStyle/>
          <a:p>
            <a:pPr algn="just">
              <a:lnSpc>
                <a:spcPts val="4929"/>
              </a:lnSpc>
            </a:pPr>
            <a:r>
              <a:rPr lang="en-US" sz="3399" b="true">
                <a:solidFill>
                  <a:srgbClr val="000000"/>
                </a:solidFill>
                <a:latin typeface="Canva Sans Bold"/>
                <a:ea typeface="Canva Sans Bold"/>
                <a:cs typeface="Canva Sans Bold"/>
                <a:sym typeface="Canva Sans Bold"/>
              </a:rPr>
              <a:t>P</a:t>
            </a:r>
            <a:r>
              <a:rPr lang="en-US" sz="3399" b="true">
                <a:solidFill>
                  <a:srgbClr val="000000"/>
                </a:solidFill>
                <a:latin typeface="Canva Sans Bold"/>
                <a:ea typeface="Canva Sans Bold"/>
                <a:cs typeface="Canva Sans Bold"/>
                <a:sym typeface="Canva Sans Bold"/>
              </a:rPr>
              <a:t>r</a:t>
            </a:r>
            <a:r>
              <a:rPr lang="en-US" sz="3399" b="true">
                <a:solidFill>
                  <a:srgbClr val="000000"/>
                </a:solidFill>
                <a:latin typeface="Canva Sans Bold"/>
                <a:ea typeface="Canva Sans Bold"/>
                <a:cs typeface="Canva Sans Bold"/>
                <a:sym typeface="Canva Sans Bold"/>
              </a:rPr>
              <a:t>oblem 3: Blurry images (infinite support)</a:t>
            </a:r>
          </a:p>
          <a:p>
            <a:pPr algn="just">
              <a:lnSpc>
                <a:spcPts val="4929"/>
              </a:lnSpc>
            </a:pPr>
            <a:r>
              <a:rPr lang="en-US" sz="3399">
                <a:solidFill>
                  <a:srgbClr val="000000"/>
                </a:solidFill>
                <a:latin typeface="Canva Sans"/>
                <a:ea typeface="Canva Sans"/>
                <a:cs typeface="Canva Sans"/>
                <a:sym typeface="Canva Sans"/>
              </a:rPr>
              <a:t>Gaussian has infinite support:</a:t>
            </a:r>
          </a:p>
          <a:p>
            <a:pPr algn="just">
              <a:lnSpc>
                <a:spcPts val="4929"/>
              </a:lnSpc>
            </a:pPr>
            <a:r>
              <a:rPr lang="en-US" sz="3399">
                <a:solidFill>
                  <a:srgbClr val="000000"/>
                </a:solidFill>
                <a:latin typeface="Canva Sans"/>
                <a:ea typeface="Canva Sans"/>
                <a:cs typeface="Canva Sans"/>
                <a:sym typeface="Canva Sans"/>
              </a:rPr>
              <a:t> z ∈ (−∞,+∞)</a:t>
            </a:r>
          </a:p>
          <a:p>
            <a:pPr algn="just">
              <a:lnSpc>
                <a:spcPts val="4929"/>
              </a:lnSpc>
            </a:pPr>
            <a:r>
              <a:rPr lang="en-US" sz="3399">
                <a:solidFill>
                  <a:srgbClr val="000000"/>
                </a:solidFill>
                <a:latin typeface="Canva Sans"/>
                <a:ea typeface="Canva Sans"/>
                <a:cs typeface="Canva Sans"/>
                <a:sym typeface="Canva Sans"/>
              </a:rPr>
              <a:t>this means :</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Very large values possible</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Decoder sees many far-away samples</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Decoder averages everything</a:t>
            </a:r>
          </a:p>
          <a:p>
            <a:pPr algn="just">
              <a:lnSpc>
                <a:spcPts val="4929"/>
              </a:lnSpc>
            </a:pPr>
          </a:p>
          <a:p>
            <a:pPr algn="just">
              <a:lnSpc>
                <a:spcPts val="4929"/>
              </a:lnSpc>
            </a:pPr>
            <a:r>
              <a:rPr lang="en-US" sz="3399">
                <a:solidFill>
                  <a:srgbClr val="000000"/>
                </a:solidFill>
                <a:latin typeface="Canva Sans"/>
                <a:ea typeface="Canva Sans"/>
                <a:cs typeface="Canva Sans"/>
                <a:sym typeface="Canva Sans"/>
              </a:rPr>
              <a:t>EVAE uses Epanechnikov kernel:</a:t>
            </a:r>
          </a:p>
          <a:p>
            <a:pPr algn="just">
              <a:lnSpc>
                <a:spcPts val="4929"/>
              </a:lnSpc>
            </a:pP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r → radius (controls spread)</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μ → center</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t is input</a:t>
            </a:r>
          </a:p>
        </p:txBody>
      </p:sp>
      <p:sp>
        <p:nvSpPr>
          <p:cNvPr name="Freeform 3" id="3"/>
          <p:cNvSpPr/>
          <p:nvPr/>
        </p:nvSpPr>
        <p:spPr>
          <a:xfrm flipH="false" flipV="false" rot="0">
            <a:off x="7856409" y="4983561"/>
            <a:ext cx="6687867" cy="1563289"/>
          </a:xfrm>
          <a:custGeom>
            <a:avLst/>
            <a:gdLst/>
            <a:ahLst/>
            <a:cxnLst/>
            <a:rect r="r" b="b" t="t" l="l"/>
            <a:pathLst>
              <a:path h="1563289" w="6687867">
                <a:moveTo>
                  <a:pt x="0" y="0"/>
                </a:moveTo>
                <a:lnTo>
                  <a:pt x="6687867" y="0"/>
                </a:lnTo>
                <a:lnTo>
                  <a:pt x="6687867" y="1563289"/>
                </a:lnTo>
                <a:lnTo>
                  <a:pt x="0" y="1563289"/>
                </a:lnTo>
                <a:lnTo>
                  <a:pt x="0" y="0"/>
                </a:lnTo>
                <a:close/>
              </a:path>
            </a:pathLst>
          </a:custGeom>
          <a:blipFill>
            <a:blip r:embed="rId2"/>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p:cSld>
    <p:bg>
      <p:bgPr>
        <a:solidFill>
          <a:srgbClr val="F6E7DA"/>
        </a:solidFill>
      </p:bgPr>
    </p:bg>
    <p:spTree>
      <p:nvGrpSpPr>
        <p:cNvPr id="1" name=""/>
        <p:cNvGrpSpPr/>
        <p:nvPr/>
      </p:nvGrpSpPr>
      <p:grpSpPr>
        <a:xfrm>
          <a:off x="0" y="0"/>
          <a:ext cx="0" cy="0"/>
          <a:chOff x="0" y="0"/>
          <a:chExt cx="0" cy="0"/>
        </a:xfrm>
      </p:grpSpPr>
      <p:sp>
        <p:nvSpPr>
          <p:cNvPr name="TextBox 2" id="2"/>
          <p:cNvSpPr txBox="true"/>
          <p:nvPr/>
        </p:nvSpPr>
        <p:spPr>
          <a:xfrm rot="0">
            <a:off x="822115" y="517897"/>
            <a:ext cx="17769273" cy="6169025"/>
          </a:xfrm>
          <a:prstGeom prst="rect">
            <a:avLst/>
          </a:prstGeom>
        </p:spPr>
        <p:txBody>
          <a:bodyPr anchor="t" rtlCol="false" tIns="0" lIns="0" bIns="0" rIns="0">
            <a:spAutoFit/>
          </a:bodyPr>
          <a:lstStyle/>
          <a:p>
            <a:pPr algn="just">
              <a:lnSpc>
                <a:spcPts val="4929"/>
              </a:lnSpc>
            </a:pPr>
            <a:r>
              <a:rPr lang="en-US" sz="3399">
                <a:solidFill>
                  <a:srgbClr val="000000"/>
                </a:solidFill>
                <a:latin typeface="Canva Sans"/>
                <a:ea typeface="Canva Sans"/>
                <a:cs typeface="Canva Sans"/>
                <a:sym typeface="Canva Sans"/>
              </a:rPr>
              <a:t>Latent sampling in EVAE:</a:t>
            </a:r>
          </a:p>
          <a:p>
            <a:pPr algn="just">
              <a:lnSpc>
                <a:spcPts val="4929"/>
              </a:lnSpc>
            </a:pPr>
            <a:r>
              <a:rPr lang="en-US" sz="3399">
                <a:solidFill>
                  <a:srgbClr val="000000"/>
                </a:solidFill>
                <a:latin typeface="Canva Sans"/>
                <a:ea typeface="Canva Sans"/>
                <a:cs typeface="Canva Sans"/>
                <a:sym typeface="Canva Sans"/>
              </a:rPr>
              <a:t>z=b(m)*K(x)+Z</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K(x) → kernel output (bounded)</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Z → prior sample</a:t>
            </a:r>
          </a:p>
          <a:p>
            <a:pPr algn="just">
              <a:lnSpc>
                <a:spcPts val="4929"/>
              </a:lnSpc>
            </a:pPr>
          </a:p>
          <a:p>
            <a:pPr algn="just">
              <a:lnSpc>
                <a:spcPts val="4929"/>
              </a:lnSpc>
            </a:pPr>
            <a:r>
              <a:rPr lang="en-US" sz="3399">
                <a:solidFill>
                  <a:srgbClr val="000000"/>
                </a:solidFill>
                <a:latin typeface="Canva Sans"/>
                <a:ea typeface="Canva Sans"/>
                <a:cs typeface="Canva Sans"/>
                <a:sym typeface="Canva Sans"/>
              </a:rPr>
              <a:t>this EVAE results:</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No extreme latent values</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Decoder gets focused information</a:t>
            </a:r>
          </a:p>
          <a:p>
            <a:pPr algn="just" marL="734059" indent="-367030" lvl="1">
              <a:lnSpc>
                <a:spcPts val="4929"/>
              </a:lnSpc>
              <a:buFont typeface="Arial"/>
              <a:buChar char="•"/>
            </a:pPr>
            <a:r>
              <a:rPr lang="en-US" sz="3399">
                <a:solidFill>
                  <a:srgbClr val="000000"/>
                </a:solidFill>
                <a:latin typeface="Canva Sans"/>
                <a:ea typeface="Canva Sans"/>
                <a:cs typeface="Canva Sans"/>
                <a:sym typeface="Canva Sans"/>
              </a:rPr>
              <a:t>Images become sharper</a:t>
            </a:r>
          </a:p>
          <a:p>
            <a:pPr algn="just">
              <a:lnSpc>
                <a:spcPts val="4929"/>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6E7DA"/>
        </a:solidFill>
      </p:bgPr>
    </p:bg>
    <p:spTree>
      <p:nvGrpSpPr>
        <p:cNvPr id="1" name=""/>
        <p:cNvGrpSpPr/>
        <p:nvPr/>
      </p:nvGrpSpPr>
      <p:grpSpPr>
        <a:xfrm>
          <a:off x="0" y="0"/>
          <a:ext cx="0" cy="0"/>
          <a:chOff x="0" y="0"/>
          <a:chExt cx="0" cy="0"/>
        </a:xfrm>
      </p:grpSpPr>
      <p:sp>
        <p:nvSpPr>
          <p:cNvPr name="TextBox 2" id="2"/>
          <p:cNvSpPr txBox="true"/>
          <p:nvPr/>
        </p:nvSpPr>
        <p:spPr>
          <a:xfrm rot="0">
            <a:off x="259364" y="343510"/>
            <a:ext cx="17769273" cy="9264650"/>
          </a:xfrm>
          <a:prstGeom prst="rect">
            <a:avLst/>
          </a:prstGeom>
        </p:spPr>
        <p:txBody>
          <a:bodyPr anchor="t" rtlCol="false" tIns="0" lIns="0" bIns="0" rIns="0">
            <a:spAutoFit/>
          </a:bodyPr>
          <a:lstStyle/>
          <a:p>
            <a:pPr algn="just">
              <a:lnSpc>
                <a:spcPts val="4929"/>
              </a:lnSpc>
            </a:pPr>
            <a:r>
              <a:rPr lang="en-US" sz="3399" b="true">
                <a:solidFill>
                  <a:srgbClr val="000000"/>
                </a:solidFill>
                <a:latin typeface="Canva Sans Bold"/>
                <a:ea typeface="Canva Sans Bold"/>
                <a:cs typeface="Canva Sans Bold"/>
                <a:sym typeface="Canva Sans Bold"/>
              </a:rPr>
              <a:t>Problem 4: Weak KL regularization control:</a:t>
            </a:r>
          </a:p>
          <a:p>
            <a:pPr algn="just">
              <a:lnSpc>
                <a:spcPts val="4929"/>
              </a:lnSpc>
            </a:pPr>
            <a:r>
              <a:rPr lang="en-US" sz="3399">
                <a:solidFill>
                  <a:srgbClr val="000000"/>
                </a:solidFill>
                <a:latin typeface="Canva Sans"/>
                <a:ea typeface="Canva Sans"/>
                <a:cs typeface="Canva Sans"/>
                <a:sym typeface="Canva Sans"/>
              </a:rPr>
              <a:t>VAE loss:</a:t>
            </a:r>
          </a:p>
          <a:p>
            <a:pPr algn="ctr">
              <a:lnSpc>
                <a:spcPts val="4929"/>
              </a:lnSpc>
            </a:pPr>
          </a:p>
          <a:p>
            <a:pPr algn="l">
              <a:lnSpc>
                <a:spcPts val="4929"/>
              </a:lnSpc>
            </a:pPr>
            <a:r>
              <a:rPr lang="en-US" sz="3399">
                <a:solidFill>
                  <a:srgbClr val="000000"/>
                </a:solidFill>
                <a:latin typeface="Canva Sans"/>
                <a:ea typeface="Canva Sans"/>
                <a:cs typeface="Canva Sans"/>
                <a:sym typeface="Canva Sans"/>
              </a:rPr>
              <a:t>KL strength is:</a:t>
            </a:r>
          </a:p>
          <a:p>
            <a:pPr algn="l" marL="734059" indent="-367030" lvl="1">
              <a:lnSpc>
                <a:spcPts val="4929"/>
              </a:lnSpc>
              <a:buFont typeface="Arial"/>
              <a:buChar char="•"/>
            </a:pPr>
            <a:r>
              <a:rPr lang="en-US" sz="3399">
                <a:solidFill>
                  <a:srgbClr val="000000"/>
                </a:solidFill>
                <a:latin typeface="Canva Sans"/>
                <a:ea typeface="Canva Sans"/>
                <a:cs typeface="Canva Sans"/>
                <a:sym typeface="Canva Sans"/>
              </a:rPr>
              <a:t>Fixed</a:t>
            </a:r>
          </a:p>
          <a:p>
            <a:pPr algn="l" marL="734059" indent="-367030" lvl="1">
              <a:lnSpc>
                <a:spcPts val="4929"/>
              </a:lnSpc>
              <a:buFont typeface="Arial"/>
              <a:buChar char="•"/>
            </a:pPr>
            <a:r>
              <a:rPr lang="en-US" sz="3399">
                <a:solidFill>
                  <a:srgbClr val="000000"/>
                </a:solidFill>
                <a:latin typeface="Canva Sans"/>
                <a:ea typeface="Canva Sans"/>
                <a:cs typeface="Canva Sans"/>
                <a:sym typeface="Canva Sans"/>
              </a:rPr>
              <a:t>Strong</a:t>
            </a:r>
          </a:p>
          <a:p>
            <a:pPr algn="l" marL="734059" indent="-367030" lvl="1">
              <a:lnSpc>
                <a:spcPts val="4929"/>
              </a:lnSpc>
              <a:buFont typeface="Arial"/>
              <a:buChar char="•"/>
            </a:pPr>
            <a:r>
              <a:rPr lang="en-US" sz="3399">
                <a:solidFill>
                  <a:srgbClr val="000000"/>
                </a:solidFill>
                <a:latin typeface="Canva Sans"/>
                <a:ea typeface="Canva Sans"/>
                <a:cs typeface="Canva Sans"/>
                <a:sym typeface="Canva Sans"/>
              </a:rPr>
              <a:t>Uncontrollable</a:t>
            </a:r>
          </a:p>
          <a:p>
            <a:pPr algn="l">
              <a:lnSpc>
                <a:spcPts val="4929"/>
              </a:lnSpc>
            </a:pPr>
            <a:r>
              <a:rPr lang="en-US" sz="3399">
                <a:solidFill>
                  <a:srgbClr val="000000"/>
                </a:solidFill>
                <a:latin typeface="Canva Sans"/>
                <a:ea typeface="Canva Sans"/>
                <a:cs typeface="Canva Sans"/>
                <a:sym typeface="Canva Sans"/>
              </a:rPr>
              <a:t>EVAE loss:</a:t>
            </a:r>
          </a:p>
          <a:p>
            <a:pPr algn="ctr">
              <a:lnSpc>
                <a:spcPts val="4929"/>
              </a:lnSpc>
            </a:pPr>
          </a:p>
          <a:p>
            <a:pPr algn="ctr">
              <a:lnSpc>
                <a:spcPts val="4929"/>
              </a:lnSpc>
            </a:pPr>
          </a:p>
          <a:p>
            <a:pPr algn="l" marL="734059" indent="-367030" lvl="1">
              <a:lnSpc>
                <a:spcPts val="4929"/>
              </a:lnSpc>
              <a:buFont typeface="Arial"/>
              <a:buChar char="•"/>
            </a:pPr>
            <a:r>
              <a:rPr lang="en-US" sz="3399">
                <a:solidFill>
                  <a:srgbClr val="000000"/>
                </a:solidFill>
                <a:latin typeface="Canva Sans"/>
                <a:ea typeface="Canva Sans"/>
                <a:cs typeface="Canva Sans"/>
                <a:sym typeface="Canva Sans"/>
              </a:rPr>
              <a:t>M → batch size</a:t>
            </a:r>
          </a:p>
          <a:p>
            <a:pPr algn="l" marL="734059" indent="-367030" lvl="1">
              <a:lnSpc>
                <a:spcPts val="4929"/>
              </a:lnSpc>
              <a:buFont typeface="Arial"/>
              <a:buChar char="•"/>
            </a:pPr>
            <a:r>
              <a:rPr lang="en-US" sz="3399">
                <a:solidFill>
                  <a:srgbClr val="000000"/>
                </a:solidFill>
                <a:latin typeface="Canva Sans"/>
                <a:ea typeface="Canva Sans"/>
                <a:cs typeface="Canva Sans"/>
                <a:sym typeface="Canva Sans"/>
              </a:rPr>
              <a:t>p→ latent dimension</a:t>
            </a:r>
          </a:p>
          <a:p>
            <a:pPr algn="l" marL="734059" indent="-367030" lvl="1">
              <a:lnSpc>
                <a:spcPts val="4929"/>
              </a:lnSpc>
              <a:buFont typeface="Arial"/>
              <a:buChar char="•"/>
            </a:pPr>
            <a:r>
              <a:rPr lang="en-US" sz="3399">
                <a:solidFill>
                  <a:srgbClr val="000000"/>
                </a:solidFill>
                <a:latin typeface="Canva Sans"/>
                <a:ea typeface="Canva Sans"/>
                <a:cs typeface="Canva Sans"/>
                <a:sym typeface="Canva Sans"/>
              </a:rPr>
              <a:t>rk → kernel radius (learned)</a:t>
            </a:r>
          </a:p>
          <a:p>
            <a:pPr algn="l" marL="734059" indent="-367030" lvl="1">
              <a:lnSpc>
                <a:spcPts val="4929"/>
              </a:lnSpc>
              <a:buFont typeface="Arial"/>
              <a:buChar char="•"/>
            </a:pPr>
            <a:r>
              <a:rPr lang="en-US" sz="3399">
                <a:solidFill>
                  <a:srgbClr val="000000"/>
                </a:solidFill>
                <a:latin typeface="Canva Sans"/>
                <a:ea typeface="Canva Sans"/>
                <a:cs typeface="Canva Sans"/>
                <a:sym typeface="Canva Sans"/>
              </a:rPr>
              <a:t>B → control paramete</a:t>
            </a:r>
          </a:p>
          <a:p>
            <a:pPr algn="l">
              <a:lnSpc>
                <a:spcPts val="4929"/>
              </a:lnSpc>
            </a:pPr>
          </a:p>
        </p:txBody>
      </p:sp>
      <p:sp>
        <p:nvSpPr>
          <p:cNvPr name="Freeform 3" id="3"/>
          <p:cNvSpPr/>
          <p:nvPr/>
        </p:nvSpPr>
        <p:spPr>
          <a:xfrm flipH="false" flipV="false" rot="0">
            <a:off x="3767447" y="5018701"/>
            <a:ext cx="6978121" cy="1749417"/>
          </a:xfrm>
          <a:custGeom>
            <a:avLst/>
            <a:gdLst/>
            <a:ahLst/>
            <a:cxnLst/>
            <a:rect r="r" b="b" t="t" l="l"/>
            <a:pathLst>
              <a:path h="1749417" w="6978121">
                <a:moveTo>
                  <a:pt x="0" y="0"/>
                </a:moveTo>
                <a:lnTo>
                  <a:pt x="6978120" y="0"/>
                </a:lnTo>
                <a:lnTo>
                  <a:pt x="6978120" y="1749417"/>
                </a:lnTo>
                <a:lnTo>
                  <a:pt x="0" y="1749417"/>
                </a:lnTo>
                <a:lnTo>
                  <a:pt x="0" y="0"/>
                </a:lnTo>
                <a:close/>
              </a:path>
            </a:pathLst>
          </a:custGeom>
          <a:blipFill>
            <a:blip r:embed="rId2"/>
            <a:stretch>
              <a:fillRect l="0" t="0" r="0" b="0"/>
            </a:stretch>
          </a:blipFill>
        </p:spPr>
      </p:sp>
      <p:pic>
        <p:nvPicPr>
          <p:cNvPr name="Picture 4" id="4"/>
          <p:cNvPicPr>
            <a:picLocks noChangeAspect="true"/>
          </p:cNvPicPr>
          <p:nvPr/>
        </p:nvPicPr>
        <p:blipFill>
          <a:blip r:embed="rId3"/>
          <a:stretch>
            <a:fillRect/>
          </a:stretch>
        </p:blipFill>
        <p:spPr>
          <a:xfrm rot="0">
            <a:off x="3426095" y="704294"/>
            <a:ext cx="7767632" cy="2208640"/>
          </a:xfrm>
          <a:prstGeom prst="rect">
            <a:avLst/>
          </a:prstGeom>
        </p:spPr>
      </p:pic>
    </p:spTree>
  </p:cSld>
  <p:clrMapOvr>
    <a:masterClrMapping/>
  </p:clrMapOvr>
</p:sld>
</file>

<file path=ppt/slides/slide24.xml><?xml version="1.0" encoding="utf-8"?>
<p:sld xmlns:p="http://schemas.openxmlformats.org/presentationml/2006/main" xmlns:a="http://schemas.openxmlformats.org/drawingml/2006/main">
  <p:cSld>
    <p:bg>
      <p:bgPr>
        <a:solidFill>
          <a:srgbClr val="F6E7DA"/>
        </a:solidFill>
      </p:bgPr>
    </p:bg>
    <p:spTree>
      <p:nvGrpSpPr>
        <p:cNvPr id="1" name=""/>
        <p:cNvGrpSpPr/>
        <p:nvPr/>
      </p:nvGrpSpPr>
      <p:grpSpPr>
        <a:xfrm>
          <a:off x="0" y="0"/>
          <a:ext cx="0" cy="0"/>
          <a:chOff x="0" y="0"/>
          <a:chExt cx="0" cy="0"/>
        </a:xfrm>
      </p:grpSpPr>
      <p:sp>
        <p:nvSpPr>
          <p:cNvPr name="TextBox 2" id="2"/>
          <p:cNvSpPr txBox="true"/>
          <p:nvPr/>
        </p:nvSpPr>
        <p:spPr>
          <a:xfrm rot="0">
            <a:off x="259364" y="403225"/>
            <a:ext cx="17769273" cy="9883775"/>
          </a:xfrm>
          <a:prstGeom prst="rect">
            <a:avLst/>
          </a:prstGeom>
        </p:spPr>
        <p:txBody>
          <a:bodyPr anchor="t" rtlCol="false" tIns="0" lIns="0" bIns="0" rIns="0">
            <a:spAutoFit/>
          </a:bodyPr>
          <a:lstStyle/>
          <a:p>
            <a:pPr algn="l">
              <a:lnSpc>
                <a:spcPts val="4929"/>
              </a:lnSpc>
            </a:pPr>
            <a:r>
              <a:rPr lang="en-US" sz="3399">
                <a:solidFill>
                  <a:srgbClr val="000000"/>
                </a:solidFill>
                <a:latin typeface="Canva Sans"/>
                <a:ea typeface="Canva Sans"/>
                <a:cs typeface="Canva Sans"/>
                <a:sym typeface="Canva Sans"/>
              </a:rPr>
              <a:t>Interpretation:</a:t>
            </a:r>
          </a:p>
          <a:p>
            <a:pPr algn="l" marL="734059" indent="-367030" lvl="1">
              <a:lnSpc>
                <a:spcPts val="4929"/>
              </a:lnSpc>
              <a:buFont typeface="Arial"/>
              <a:buChar char="•"/>
            </a:pPr>
            <a:r>
              <a:rPr lang="en-US" sz="3399">
                <a:solidFill>
                  <a:srgbClr val="000000"/>
                </a:solidFill>
                <a:latin typeface="Canva Sans"/>
                <a:ea typeface="Canva Sans"/>
                <a:cs typeface="Canva Sans"/>
                <a:sym typeface="Canva Sans"/>
              </a:rPr>
              <a:t>B controls regularization strength</a:t>
            </a:r>
          </a:p>
          <a:p>
            <a:pPr algn="l" marL="734059" indent="-367030" lvl="1">
              <a:lnSpc>
                <a:spcPts val="4929"/>
              </a:lnSpc>
              <a:buFont typeface="Arial"/>
              <a:buChar char="•"/>
            </a:pPr>
            <a:r>
              <a:rPr lang="en-US" sz="3399">
                <a:solidFill>
                  <a:srgbClr val="000000"/>
                </a:solidFill>
                <a:latin typeface="Canva Sans"/>
                <a:ea typeface="Canva Sans"/>
                <a:cs typeface="Canva Sans"/>
                <a:sym typeface="Canva Sans"/>
              </a:rPr>
              <a:t>Like a volume knob</a:t>
            </a:r>
          </a:p>
          <a:p>
            <a:pPr algn="l">
              <a:lnSpc>
                <a:spcPts val="4929"/>
              </a:lnSpc>
            </a:pPr>
          </a:p>
          <a:p>
            <a:pPr algn="l">
              <a:lnSpc>
                <a:spcPts val="4929"/>
              </a:lnSpc>
            </a:pPr>
            <a:r>
              <a:rPr lang="en-US" sz="3399">
                <a:solidFill>
                  <a:srgbClr val="000000"/>
                </a:solidFill>
                <a:latin typeface="Canva Sans"/>
                <a:ea typeface="Canva Sans"/>
                <a:cs typeface="Canva Sans"/>
                <a:sym typeface="Canva Sans"/>
              </a:rPr>
              <a:t>Result:</a:t>
            </a:r>
          </a:p>
          <a:p>
            <a:pPr algn="l" marL="734059" indent="-367030" lvl="1">
              <a:lnSpc>
                <a:spcPts val="4929"/>
              </a:lnSpc>
              <a:buFont typeface="Arial"/>
              <a:buChar char="•"/>
            </a:pPr>
            <a:r>
              <a:rPr lang="en-US" sz="3399">
                <a:solidFill>
                  <a:srgbClr val="000000"/>
                </a:solidFill>
                <a:latin typeface="Canva Sans"/>
                <a:ea typeface="Canva Sans"/>
                <a:cs typeface="Canva Sans"/>
                <a:sym typeface="Canva Sans"/>
              </a:rPr>
              <a:t>Better balance between:</a:t>
            </a:r>
          </a:p>
          <a:p>
            <a:pPr algn="l" marL="1468119" indent="-489373" lvl="2">
              <a:lnSpc>
                <a:spcPts val="4929"/>
              </a:lnSpc>
              <a:buFont typeface="Arial"/>
              <a:buChar char="⚬"/>
            </a:pPr>
            <a:r>
              <a:rPr lang="en-US" sz="3399">
                <a:solidFill>
                  <a:srgbClr val="000000"/>
                </a:solidFill>
                <a:latin typeface="Canva Sans"/>
                <a:ea typeface="Canva Sans"/>
                <a:cs typeface="Canva Sans"/>
                <a:sym typeface="Canva Sans"/>
              </a:rPr>
              <a:t>reconstruction</a:t>
            </a:r>
          </a:p>
          <a:p>
            <a:pPr algn="l" marL="1468119" indent="-489373" lvl="2">
              <a:lnSpc>
                <a:spcPts val="4929"/>
              </a:lnSpc>
              <a:buFont typeface="Arial"/>
              <a:buChar char="⚬"/>
            </a:pPr>
            <a:r>
              <a:rPr lang="en-US" sz="3399">
                <a:solidFill>
                  <a:srgbClr val="000000"/>
                </a:solidFill>
                <a:latin typeface="Canva Sans"/>
                <a:ea typeface="Canva Sans"/>
                <a:cs typeface="Canva Sans"/>
                <a:sym typeface="Canva Sans"/>
              </a:rPr>
              <a:t>regularization</a:t>
            </a:r>
          </a:p>
          <a:p>
            <a:pPr algn="l" marL="734059" indent="-367030" lvl="1">
              <a:lnSpc>
                <a:spcPts val="4929"/>
              </a:lnSpc>
              <a:buFont typeface="Arial"/>
              <a:buChar char="•"/>
            </a:pPr>
            <a:r>
              <a:rPr lang="en-US" sz="3399">
                <a:solidFill>
                  <a:srgbClr val="000000"/>
                </a:solidFill>
                <a:latin typeface="Canva Sans"/>
                <a:ea typeface="Canva Sans"/>
                <a:cs typeface="Canva Sans"/>
                <a:sym typeface="Canva Sans"/>
              </a:rPr>
              <a:t>Richer representations</a:t>
            </a:r>
          </a:p>
          <a:p>
            <a:pPr algn="l" marL="734059" indent="-367030" lvl="1">
              <a:lnSpc>
                <a:spcPts val="4929"/>
              </a:lnSpc>
              <a:buFont typeface="Arial"/>
              <a:buChar char="•"/>
            </a:pPr>
            <a:r>
              <a:rPr lang="en-US" sz="3399">
                <a:solidFill>
                  <a:srgbClr val="000000"/>
                </a:solidFill>
                <a:latin typeface="Canva Sans"/>
                <a:ea typeface="Canva Sans"/>
                <a:cs typeface="Canva Sans"/>
                <a:sym typeface="Canva Sans"/>
              </a:rPr>
              <a:t>Calculation of Loss, FID and Sharpness </a:t>
            </a:r>
          </a:p>
          <a:p>
            <a:pPr algn="l">
              <a:lnSpc>
                <a:spcPts val="4929"/>
              </a:lnSpc>
            </a:pPr>
          </a:p>
          <a:p>
            <a:pPr algn="l">
              <a:lnSpc>
                <a:spcPts val="4929"/>
              </a:lnSpc>
            </a:pPr>
            <a:r>
              <a:rPr lang="en-US" sz="3399">
                <a:solidFill>
                  <a:srgbClr val="000000"/>
                </a:solidFill>
                <a:latin typeface="Canva Sans"/>
                <a:ea typeface="Canva Sans"/>
                <a:cs typeface="Canva Sans"/>
                <a:sym typeface="Canva Sans"/>
              </a:rPr>
              <a:t>FID primarily stands for Fréchet Inception Distance, a key metric in AI for evaluating how realistic and diverse images from generative models are by comparing their statistical features to real images; a lower FID score means better quality, with 0 being perfect</a:t>
            </a:r>
          </a:p>
          <a:p>
            <a:pPr algn="l">
              <a:lnSpc>
                <a:spcPts val="4929"/>
              </a:lnSpc>
            </a:pP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F6E7DA"/>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749433" y="622113"/>
          <a:ext cx="16509867" cy="9094654"/>
        </p:xfrm>
        <a:graphic>
          <a:graphicData uri="http://schemas.openxmlformats.org/drawingml/2006/table">
            <a:tbl>
              <a:tblPr/>
              <a:tblGrid>
                <a:gridCol w="8254934"/>
                <a:gridCol w="8254934"/>
              </a:tblGrid>
              <a:tr h="1515776">
                <a:tc>
                  <a:txBody>
                    <a:bodyPr anchor="t" rtlCol="false"/>
                    <a:lstStyle/>
                    <a:p>
                      <a:pPr algn="ctr">
                        <a:lnSpc>
                          <a:spcPts val="3779"/>
                        </a:lnSpc>
                        <a:defRPr/>
                      </a:pPr>
                      <a:r>
                        <a:rPr lang="en-US" sz="2699" b="true">
                          <a:solidFill>
                            <a:srgbClr val="000000"/>
                          </a:solidFill>
                          <a:latin typeface="Londrina Solid Heavy"/>
                          <a:ea typeface="Londrina Solid Heavy"/>
                          <a:cs typeface="Londrina Solid Heavy"/>
                          <a:sym typeface="Londrina Solid Heavy"/>
                        </a:rPr>
                        <a:t>VAE Problem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779"/>
                        </a:lnSpc>
                        <a:defRPr/>
                      </a:pPr>
                      <a:r>
                        <a:rPr lang="en-US" sz="2699" b="true">
                          <a:solidFill>
                            <a:srgbClr val="000000"/>
                          </a:solidFill>
                          <a:latin typeface="Londrina Solid Heavy"/>
                          <a:ea typeface="Londrina Solid Heavy"/>
                          <a:cs typeface="Londrina Solid Heavy"/>
                          <a:sym typeface="Londrina Solid Heavy"/>
                        </a:rPr>
                        <a:t>EVAE Solution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15776">
                <a:tc>
                  <a:txBody>
                    <a:bodyPr anchor="t" rtlCol="false"/>
                    <a:lstStyle/>
                    <a:p>
                      <a:pPr algn="ctr">
                        <a:lnSpc>
                          <a:spcPts val="3779"/>
                        </a:lnSpc>
                        <a:defRPr/>
                      </a:pPr>
                      <a:r>
                        <a:rPr lang="en-US" sz="2700">
                          <a:solidFill>
                            <a:srgbClr val="000000"/>
                          </a:solidFill>
                          <a:latin typeface="Londrina Solid"/>
                          <a:ea typeface="Londrina Solid"/>
                          <a:cs typeface="Londrina Solid"/>
                          <a:sym typeface="Londrina Solid"/>
                        </a:rPr>
                        <a:t>Gaussian latent space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779"/>
                        </a:lnSpc>
                        <a:defRPr/>
                      </a:pPr>
                      <a:r>
                        <a:rPr lang="en-US" sz="2700">
                          <a:solidFill>
                            <a:srgbClr val="000000"/>
                          </a:solidFill>
                          <a:latin typeface="Londrina Solid"/>
                          <a:ea typeface="Londrina Solid"/>
                          <a:cs typeface="Londrina Solid"/>
                          <a:sym typeface="Londrina Solid"/>
                        </a:rPr>
                        <a:t>Kernel-based latent space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15776">
                <a:tc>
                  <a:txBody>
                    <a:bodyPr anchor="t" rtlCol="false"/>
                    <a:lstStyle/>
                    <a:p>
                      <a:pPr algn="ctr">
                        <a:lnSpc>
                          <a:spcPts val="3779"/>
                        </a:lnSpc>
                        <a:defRPr/>
                      </a:pPr>
                      <a:r>
                        <a:rPr lang="en-US" sz="2700">
                          <a:solidFill>
                            <a:srgbClr val="000000"/>
                          </a:solidFill>
                          <a:latin typeface="Londrina Solid"/>
                          <a:ea typeface="Londrina Solid"/>
                          <a:cs typeface="Londrina Solid"/>
                          <a:sym typeface="Londrina Solid"/>
                        </a:rPr>
                        <a:t>Feature loss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779"/>
                        </a:lnSpc>
                        <a:defRPr/>
                      </a:pPr>
                      <a:r>
                        <a:rPr lang="en-US" sz="2700">
                          <a:solidFill>
                            <a:srgbClr val="000000"/>
                          </a:solidFill>
                          <a:latin typeface="Londrina Solid"/>
                          <a:ea typeface="Londrina Solid"/>
                          <a:cs typeface="Londrina Solid"/>
                          <a:sym typeface="Londrina Solid"/>
                        </a:rPr>
                        <a:t>Flexible KDE modeling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15776">
                <a:tc>
                  <a:txBody>
                    <a:bodyPr anchor="t" rtlCol="false"/>
                    <a:lstStyle/>
                    <a:p>
                      <a:pPr algn="ctr">
                        <a:lnSpc>
                          <a:spcPts val="3779"/>
                        </a:lnSpc>
                        <a:defRPr/>
                      </a:pPr>
                      <a:r>
                        <a:rPr lang="en-US" sz="2700">
                          <a:solidFill>
                            <a:srgbClr val="000000"/>
                          </a:solidFill>
                          <a:latin typeface="Londrina Solid"/>
                          <a:ea typeface="Londrina Solid"/>
                          <a:cs typeface="Londrina Solid"/>
                          <a:sym typeface="Londrina Solid"/>
                        </a:rPr>
                        <a:t>Posterior collapse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779"/>
                        </a:lnSpc>
                        <a:defRPr/>
                      </a:pPr>
                      <a:r>
                        <a:rPr lang="en-US" sz="2700">
                          <a:solidFill>
                            <a:srgbClr val="000000"/>
                          </a:solidFill>
                          <a:latin typeface="Londrina Solid"/>
                          <a:ea typeface="Londrina Solid"/>
                          <a:cs typeface="Londrina Solid"/>
                          <a:sym typeface="Londrina Solid"/>
                        </a:rPr>
                        <a:t>KL upper bound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15776">
                <a:tc>
                  <a:txBody>
                    <a:bodyPr anchor="t" rtlCol="false"/>
                    <a:lstStyle/>
                    <a:p>
                      <a:pPr algn="ctr">
                        <a:lnSpc>
                          <a:spcPts val="3779"/>
                        </a:lnSpc>
                        <a:defRPr/>
                      </a:pPr>
                      <a:r>
                        <a:rPr lang="en-US" sz="2700">
                          <a:solidFill>
                            <a:srgbClr val="000000"/>
                          </a:solidFill>
                          <a:latin typeface="Londrina Solid"/>
                          <a:ea typeface="Londrina Solid"/>
                          <a:cs typeface="Londrina Solid"/>
                          <a:sym typeface="Londrina Solid"/>
                        </a:rPr>
                        <a:t>Blurry images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779"/>
                        </a:lnSpc>
                        <a:defRPr/>
                      </a:pPr>
                      <a:r>
                        <a:rPr lang="en-US" sz="2700">
                          <a:solidFill>
                            <a:srgbClr val="000000"/>
                          </a:solidFill>
                          <a:latin typeface="Londrina Solid"/>
                          <a:ea typeface="Londrina Solid"/>
                          <a:cs typeface="Londrina Solid"/>
                          <a:sym typeface="Londrina Solid"/>
                        </a:rPr>
                        <a:t>Finite support kernel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15776">
                <a:tc>
                  <a:txBody>
                    <a:bodyPr anchor="t" rtlCol="false"/>
                    <a:lstStyle/>
                    <a:p>
                      <a:pPr algn="ctr">
                        <a:lnSpc>
                          <a:spcPts val="3779"/>
                        </a:lnSpc>
                        <a:defRPr/>
                      </a:pPr>
                      <a:r>
                        <a:rPr lang="en-US" sz="2700">
                          <a:solidFill>
                            <a:srgbClr val="000000"/>
                          </a:solidFill>
                          <a:latin typeface="Londrina Solid"/>
                          <a:ea typeface="Londrina Solid"/>
                          <a:cs typeface="Londrina Solid"/>
                          <a:sym typeface="Londrina Solid"/>
                        </a:rPr>
                        <a:t>Strong KL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779"/>
                        </a:lnSpc>
                        <a:defRPr/>
                      </a:pPr>
                      <a:r>
                        <a:rPr lang="en-US" sz="2700">
                          <a:solidFill>
                            <a:srgbClr val="000000"/>
                          </a:solidFill>
                          <a:latin typeface="Londrina Solid"/>
                          <a:ea typeface="Londrina Solid"/>
                          <a:cs typeface="Londrina Solid"/>
                          <a:sym typeface="Londrina Solid"/>
                        </a:rPr>
                        <a:t>Tunable regularization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6E7DA"/>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956286" y="4062886"/>
            <a:ext cx="9738360" cy="2161229"/>
          </a:xfrm>
          <a:prstGeom prst="rect">
            <a:avLst/>
          </a:prstGeom>
        </p:spPr>
      </p:pic>
      <p:sp>
        <p:nvSpPr>
          <p:cNvPr name="TextBox 3" id="3"/>
          <p:cNvSpPr txBox="true"/>
          <p:nvPr/>
        </p:nvSpPr>
        <p:spPr>
          <a:xfrm rot="0">
            <a:off x="378965" y="4815684"/>
            <a:ext cx="2197179" cy="596900"/>
          </a:xfrm>
          <a:prstGeom prst="rect">
            <a:avLst/>
          </a:prstGeom>
        </p:spPr>
        <p:txBody>
          <a:bodyPr anchor="t" rtlCol="false" tIns="0" lIns="0" bIns="0" rIns="0">
            <a:spAutoFit/>
          </a:bodyPr>
          <a:lstStyle/>
          <a:p>
            <a:pPr algn="ctr">
              <a:lnSpc>
                <a:spcPts val="4929"/>
              </a:lnSpc>
              <a:spcBef>
                <a:spcPct val="0"/>
              </a:spcBef>
            </a:pPr>
            <a:r>
              <a:rPr lang="en-US" b="true" sz="3399">
                <a:solidFill>
                  <a:srgbClr val="000000"/>
                </a:solidFill>
                <a:latin typeface="Canva Sans Bold"/>
                <a:ea typeface="Canva Sans Bold"/>
                <a:cs typeface="Canva Sans Bold"/>
                <a:sym typeface="Canva Sans Bold"/>
              </a:rPr>
              <a:t>Sharpness</a:t>
            </a:r>
          </a:p>
        </p:txBody>
      </p:sp>
      <p:pic>
        <p:nvPicPr>
          <p:cNvPr name="Picture 4" id="4"/>
          <p:cNvPicPr>
            <a:picLocks noChangeAspect="true"/>
          </p:cNvPicPr>
          <p:nvPr/>
        </p:nvPicPr>
        <p:blipFill>
          <a:blip r:embed="rId3"/>
          <a:stretch>
            <a:fillRect/>
          </a:stretch>
        </p:blipFill>
        <p:spPr>
          <a:xfrm rot="0">
            <a:off x="920824" y="-480343"/>
            <a:ext cx="9738360" cy="2320573"/>
          </a:xfrm>
          <a:prstGeom prst="rect">
            <a:avLst/>
          </a:prstGeom>
        </p:spPr>
      </p:pic>
      <p:sp>
        <p:nvSpPr>
          <p:cNvPr name="TextBox 5" id="5"/>
          <p:cNvSpPr txBox="true"/>
          <p:nvPr/>
        </p:nvSpPr>
        <p:spPr>
          <a:xfrm rot="0">
            <a:off x="1732354" y="962025"/>
            <a:ext cx="12286774" cy="3759199"/>
          </a:xfrm>
          <a:prstGeom prst="rect">
            <a:avLst/>
          </a:prstGeom>
        </p:spPr>
        <p:txBody>
          <a:bodyPr anchor="t" rtlCol="false" tIns="0" lIns="0" bIns="0" rIns="0">
            <a:spAutoFit/>
          </a:bodyPr>
          <a:lstStyle/>
          <a:p>
            <a:pPr algn="l" marL="561344" indent="-280672" lvl="1">
              <a:lnSpc>
                <a:spcPts val="3770"/>
              </a:lnSpc>
              <a:buFont typeface="Arial"/>
              <a:buChar char="•"/>
            </a:pPr>
            <a:r>
              <a:rPr lang="en-US" sz="2600">
                <a:solidFill>
                  <a:srgbClr val="000000"/>
                </a:solidFill>
                <a:latin typeface="Canva Sans"/>
                <a:ea typeface="Canva Sans"/>
                <a:cs typeface="Canva Sans"/>
                <a:sym typeface="Canva Sans"/>
              </a:rPr>
              <a:t>μr​ -</a:t>
            </a:r>
            <a:r>
              <a:rPr lang="en-US" sz="2600">
                <a:solidFill>
                  <a:srgbClr val="000000"/>
                </a:solidFill>
                <a:latin typeface="Canva Sans"/>
                <a:ea typeface="Canva Sans"/>
                <a:cs typeface="Canva Sans"/>
                <a:sym typeface="Canva Sans"/>
              </a:rPr>
              <a:t>Mean of feature vectors extracted from real images using Inception-V3</a:t>
            </a:r>
          </a:p>
          <a:p>
            <a:pPr algn="l" marL="561344" indent="-280672" lvl="1">
              <a:lnSpc>
                <a:spcPts val="3770"/>
              </a:lnSpc>
              <a:buFont typeface="Arial"/>
              <a:buChar char="•"/>
            </a:pPr>
            <a:r>
              <a:rPr lang="en-US" sz="2600">
                <a:solidFill>
                  <a:srgbClr val="000000"/>
                </a:solidFill>
                <a:latin typeface="Canva Sans"/>
                <a:ea typeface="Canva Sans"/>
                <a:cs typeface="Canva Sans"/>
                <a:sym typeface="Canva Sans"/>
              </a:rPr>
              <a:t>μg - Mean of feature vectors extracted from generated images</a:t>
            </a:r>
          </a:p>
          <a:p>
            <a:pPr algn="l" marL="561344" indent="-280672" lvl="1">
              <a:lnSpc>
                <a:spcPts val="3770"/>
              </a:lnSpc>
              <a:buFont typeface="Arial"/>
              <a:buChar char="•"/>
            </a:pPr>
            <a:r>
              <a:rPr lang="en-US" sz="2600">
                <a:solidFill>
                  <a:srgbClr val="000000"/>
                </a:solidFill>
                <a:latin typeface="Canva Sans"/>
                <a:ea typeface="Canva Sans"/>
                <a:cs typeface="Canva Sans"/>
                <a:sym typeface="Canva Sans"/>
              </a:rPr>
              <a:t>Σr - Covariance matrix of real image features</a:t>
            </a:r>
          </a:p>
          <a:p>
            <a:pPr algn="l" marL="561344" indent="-280672" lvl="1">
              <a:lnSpc>
                <a:spcPts val="3770"/>
              </a:lnSpc>
              <a:buFont typeface="Arial"/>
              <a:buChar char="•"/>
            </a:pPr>
            <a:r>
              <a:rPr lang="en-US" sz="2600">
                <a:solidFill>
                  <a:srgbClr val="000000"/>
                </a:solidFill>
                <a:latin typeface="Canva Sans"/>
                <a:ea typeface="Canva Sans"/>
                <a:cs typeface="Canva Sans"/>
                <a:sym typeface="Canva Sans"/>
              </a:rPr>
              <a:t>Σg - Covariance matrix of generated image features</a:t>
            </a:r>
          </a:p>
          <a:p>
            <a:pPr algn="l" marL="561344" indent="-280672" lvl="1">
              <a:lnSpc>
                <a:spcPts val="3770"/>
              </a:lnSpc>
              <a:buFont typeface="Arial"/>
              <a:buChar char="•"/>
            </a:pPr>
            <a:r>
              <a:rPr lang="en-US" sz="2600">
                <a:solidFill>
                  <a:srgbClr val="000000"/>
                </a:solidFill>
                <a:latin typeface="Canva Sans"/>
                <a:ea typeface="Canva Sans"/>
                <a:cs typeface="Canva Sans"/>
                <a:sym typeface="Canva Sans"/>
              </a:rPr>
              <a:t>∥μr−μg∥Difference between the centers of the two feature distributions</a:t>
            </a:r>
          </a:p>
          <a:p>
            <a:pPr algn="l" marL="561344" indent="-280672" lvl="1">
              <a:lnSpc>
                <a:spcPts val="3770"/>
              </a:lnSpc>
              <a:buFont typeface="Arial"/>
              <a:buChar char="•"/>
            </a:pPr>
            <a:r>
              <a:rPr lang="en-US" sz="2600">
                <a:solidFill>
                  <a:srgbClr val="000000"/>
                </a:solidFill>
                <a:latin typeface="Canva Sans"/>
                <a:ea typeface="Canva Sans"/>
                <a:cs typeface="Canva Sans"/>
                <a:sym typeface="Canva Sans"/>
              </a:rPr>
              <a:t>Tr⁡(⋅) - Trace (sum of diagonal elements of a matrix)</a:t>
            </a:r>
          </a:p>
          <a:p>
            <a:pPr algn="l" marL="561344" indent="-280672" lvl="1">
              <a:lnSpc>
                <a:spcPts val="3770"/>
              </a:lnSpc>
              <a:buFont typeface="Arial"/>
              <a:buChar char="•"/>
            </a:pPr>
            <a:r>
              <a:rPr lang="en-US" sz="2600">
                <a:solidFill>
                  <a:srgbClr val="000000"/>
                </a:solidFill>
                <a:latin typeface="Canva Sans"/>
                <a:ea typeface="Canva Sans"/>
                <a:cs typeface="Canva Sans"/>
                <a:sym typeface="Canva Sans"/>
              </a:rPr>
              <a:t>(ΣrΣg)^ 1/2 - Matrix square root of the covariance product</a:t>
            </a:r>
          </a:p>
          <a:p>
            <a:pPr algn="l">
              <a:lnSpc>
                <a:spcPts val="3480"/>
              </a:lnSpc>
              <a:spcBef>
                <a:spcPct val="0"/>
              </a:spcBef>
            </a:pPr>
          </a:p>
        </p:txBody>
      </p:sp>
      <p:sp>
        <p:nvSpPr>
          <p:cNvPr name="TextBox 6" id="6"/>
          <p:cNvSpPr txBox="true"/>
          <p:nvPr/>
        </p:nvSpPr>
        <p:spPr>
          <a:xfrm rot="0">
            <a:off x="2351022" y="5345909"/>
            <a:ext cx="11904821" cy="4606925"/>
          </a:xfrm>
          <a:prstGeom prst="rect">
            <a:avLst/>
          </a:prstGeom>
        </p:spPr>
        <p:txBody>
          <a:bodyPr anchor="t" rtlCol="false" tIns="0" lIns="0" bIns="0" rIns="0">
            <a:spAutoFit/>
          </a:bodyPr>
          <a:lstStyle/>
          <a:p>
            <a:pPr algn="l">
              <a:lnSpc>
                <a:spcPts val="4060"/>
              </a:lnSpc>
              <a:spcBef>
                <a:spcPct val="0"/>
              </a:spcBef>
            </a:pPr>
            <a:r>
              <a:rPr lang="en-US" b="true" sz="2800">
                <a:solidFill>
                  <a:srgbClr val="000000"/>
                </a:solidFill>
                <a:latin typeface="Canva Sans Bold"/>
                <a:ea typeface="Canva Sans Bold"/>
                <a:cs typeface="Canva Sans Bold"/>
                <a:sym typeface="Canva Sans Bold"/>
              </a:rPr>
              <a:t> </a:t>
            </a:r>
          </a:p>
          <a:p>
            <a:pPr algn="l">
              <a:lnSpc>
                <a:spcPts val="4060"/>
              </a:lnSpc>
              <a:spcBef>
                <a:spcPct val="0"/>
              </a:spcBef>
            </a:pPr>
            <a:r>
              <a:rPr lang="en-US" sz="2800">
                <a:solidFill>
                  <a:srgbClr val="000000"/>
                </a:solidFill>
                <a:latin typeface="Canva Sans"/>
                <a:ea typeface="Canva Sans"/>
                <a:cs typeface="Canva Sans"/>
                <a:sym typeface="Canva Sans"/>
              </a:rPr>
              <a:t>xi,j - Pixel intensity at location (i,j)(i,j)(i,j)</a:t>
            </a:r>
          </a:p>
          <a:p>
            <a:pPr algn="l">
              <a:lnSpc>
                <a:spcPts val="4060"/>
              </a:lnSpc>
              <a:spcBef>
                <a:spcPct val="0"/>
              </a:spcBef>
            </a:pPr>
            <a:r>
              <a:rPr lang="en-US" sz="2800">
                <a:solidFill>
                  <a:srgbClr val="000000"/>
                </a:solidFill>
                <a:latin typeface="Canva Sans"/>
                <a:ea typeface="Canva Sans"/>
                <a:cs typeface="Canva Sans"/>
                <a:sym typeface="Canva Sans"/>
              </a:rPr>
              <a:t>xi,j+1 - Pixel intensity of the right neighbor</a:t>
            </a:r>
          </a:p>
          <a:p>
            <a:pPr algn="l">
              <a:lnSpc>
                <a:spcPts val="4060"/>
              </a:lnSpc>
              <a:spcBef>
                <a:spcPct val="0"/>
              </a:spcBef>
            </a:pPr>
            <a:r>
              <a:rPr lang="en-US" sz="2800">
                <a:solidFill>
                  <a:srgbClr val="000000"/>
                </a:solidFill>
                <a:latin typeface="Canva Sans"/>
                <a:ea typeface="Canva Sans"/>
                <a:cs typeface="Canva Sans"/>
                <a:sym typeface="Canva Sans"/>
              </a:rPr>
              <a:t>xi+1,j - Pixel intensity of the bottom neighbor</a:t>
            </a:r>
          </a:p>
          <a:p>
            <a:pPr algn="l">
              <a:lnSpc>
                <a:spcPts val="4060"/>
              </a:lnSpc>
              <a:spcBef>
                <a:spcPct val="0"/>
              </a:spcBef>
            </a:pPr>
            <a:r>
              <a:rPr lang="en-US" sz="2800">
                <a:solidFill>
                  <a:srgbClr val="000000"/>
                </a:solidFill>
                <a:latin typeface="Canva Sans"/>
                <a:ea typeface="Canva Sans"/>
                <a:cs typeface="Canva Sans"/>
                <a:sym typeface="Canva Sans"/>
              </a:rPr>
              <a:t>|xi,j−xi,j+1∣- Horizontal intensity difference (horizontal edge strength)</a:t>
            </a:r>
          </a:p>
          <a:p>
            <a:pPr algn="l">
              <a:lnSpc>
                <a:spcPts val="4060"/>
              </a:lnSpc>
              <a:spcBef>
                <a:spcPct val="0"/>
              </a:spcBef>
            </a:pPr>
            <a:r>
              <a:rPr lang="en-US" sz="2800">
                <a:solidFill>
                  <a:srgbClr val="000000"/>
                </a:solidFill>
                <a:latin typeface="Canva Sans"/>
                <a:ea typeface="Canva Sans"/>
                <a:cs typeface="Canva Sans"/>
                <a:sym typeface="Canva Sans"/>
              </a:rPr>
              <a:t>∣xi,j−xi+1,j∣- Vertical intensity difference (vertical edge strength)</a:t>
            </a:r>
          </a:p>
          <a:p>
            <a:pPr algn="l">
              <a:lnSpc>
                <a:spcPts val="4060"/>
              </a:lnSpc>
              <a:spcBef>
                <a:spcPct val="0"/>
              </a:spcBef>
            </a:pPr>
            <a:r>
              <a:rPr lang="en-US" sz="2800">
                <a:solidFill>
                  <a:srgbClr val="000000"/>
                </a:solidFill>
                <a:latin typeface="Canva Sans"/>
                <a:ea typeface="Canva Sans"/>
                <a:cs typeface="Canva Sans"/>
                <a:sym typeface="Canva Sans"/>
              </a:rPr>
              <a:t>E[⋅] - Average over all pixels in the image</a:t>
            </a:r>
          </a:p>
          <a:p>
            <a:pPr algn="l">
              <a:lnSpc>
                <a:spcPts val="4060"/>
              </a:lnSpc>
              <a:spcBef>
                <a:spcPct val="0"/>
              </a:spcBef>
            </a:pPr>
            <a:r>
              <a:rPr lang="en-US" sz="2800">
                <a:solidFill>
                  <a:srgbClr val="000000"/>
                </a:solidFill>
                <a:latin typeface="Canva Sans"/>
                <a:ea typeface="Canva Sans"/>
                <a:cs typeface="Canva Sans"/>
                <a:sym typeface="Canva Sans"/>
              </a:rPr>
              <a:t>∇x-  Image gradient (rate of intensity change)</a:t>
            </a:r>
          </a:p>
          <a:p>
            <a:pPr algn="l">
              <a:lnSpc>
                <a:spcPts val="4060"/>
              </a:lnSpc>
              <a:spcBef>
                <a:spcPct val="0"/>
              </a:spcBef>
            </a:pPr>
            <a:r>
              <a:rPr lang="en-US" sz="2800">
                <a:solidFill>
                  <a:srgbClr val="000000"/>
                </a:solidFill>
                <a:latin typeface="Canva Sans"/>
                <a:ea typeface="Canva Sans"/>
                <a:cs typeface="Canva Sans"/>
                <a:sym typeface="Canva Sans"/>
              </a:rPr>
              <a:t>∥∇x∥</a:t>
            </a:r>
            <a:r>
              <a:rPr lang="en-US" sz="2800">
                <a:solidFill>
                  <a:srgbClr val="000000"/>
                </a:solidFill>
                <a:latin typeface="Canva Sans"/>
                <a:ea typeface="Canva Sans"/>
                <a:cs typeface="Canva Sans"/>
                <a:sym typeface="Canva Sans"/>
              </a:rPr>
              <a:t>Gradient magnitude (edge strength)</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6E7DA"/>
        </a:solidFill>
      </p:bgPr>
    </p:bg>
    <p:spTree>
      <p:nvGrpSpPr>
        <p:cNvPr id="1" name=""/>
        <p:cNvGrpSpPr/>
        <p:nvPr/>
      </p:nvGrpSpPr>
      <p:grpSpPr>
        <a:xfrm>
          <a:off x="0" y="0"/>
          <a:ext cx="0" cy="0"/>
          <a:chOff x="0" y="0"/>
          <a:chExt cx="0" cy="0"/>
        </a:xfrm>
      </p:grpSpPr>
      <p:sp>
        <p:nvSpPr>
          <p:cNvPr name="TextBox 2" id="2"/>
          <p:cNvSpPr txBox="true"/>
          <p:nvPr/>
        </p:nvSpPr>
        <p:spPr>
          <a:xfrm rot="0">
            <a:off x="259364" y="431800"/>
            <a:ext cx="17769273" cy="596900"/>
          </a:xfrm>
          <a:prstGeom prst="rect">
            <a:avLst/>
          </a:prstGeom>
        </p:spPr>
        <p:txBody>
          <a:bodyPr anchor="t" rtlCol="false" tIns="0" lIns="0" bIns="0" rIns="0">
            <a:spAutoFit/>
          </a:bodyPr>
          <a:lstStyle/>
          <a:p>
            <a:pPr algn="l">
              <a:lnSpc>
                <a:spcPts val="4929"/>
              </a:lnSpc>
            </a:pPr>
            <a:r>
              <a:rPr lang="en-US" sz="3399" b="true">
                <a:solidFill>
                  <a:srgbClr val="000000"/>
                </a:solidFill>
                <a:latin typeface="Canva Sans Bold"/>
                <a:ea typeface="Canva Sans Bold"/>
                <a:cs typeface="Canva Sans Bold"/>
                <a:sym typeface="Canva Sans Bold"/>
              </a:rPr>
              <a:t>RESULTS </a:t>
            </a:r>
          </a:p>
        </p:txBody>
      </p:sp>
      <p:sp>
        <p:nvSpPr>
          <p:cNvPr name="TextBox 3" id="3"/>
          <p:cNvSpPr txBox="true"/>
          <p:nvPr/>
        </p:nvSpPr>
        <p:spPr>
          <a:xfrm rot="0">
            <a:off x="577989" y="1275690"/>
            <a:ext cx="901422" cy="481331"/>
          </a:xfrm>
          <a:prstGeom prst="rect">
            <a:avLst/>
          </a:prstGeom>
        </p:spPr>
        <p:txBody>
          <a:bodyPr anchor="t" rtlCol="false" tIns="0" lIns="0" bIns="0" rIns="0">
            <a:spAutoFit/>
          </a:bodyPr>
          <a:lstStyle/>
          <a:p>
            <a:pPr algn="l">
              <a:lnSpc>
                <a:spcPts val="3919"/>
              </a:lnSpc>
              <a:spcBef>
                <a:spcPct val="0"/>
              </a:spcBef>
            </a:pPr>
            <a:r>
              <a:rPr lang="en-US" b="true" sz="2799">
                <a:solidFill>
                  <a:srgbClr val="000000"/>
                </a:solidFill>
                <a:latin typeface="Aileron Bold"/>
                <a:ea typeface="Aileron Bold"/>
                <a:cs typeface="Aileron Bold"/>
                <a:sym typeface="Aileron Bold"/>
              </a:rPr>
              <a:t>EVAE</a:t>
            </a:r>
          </a:p>
        </p:txBody>
      </p:sp>
      <p:sp>
        <p:nvSpPr>
          <p:cNvPr name="Freeform 4" id="4"/>
          <p:cNvSpPr/>
          <p:nvPr/>
        </p:nvSpPr>
        <p:spPr>
          <a:xfrm flipH="false" flipV="false" rot="0">
            <a:off x="933753" y="1757021"/>
            <a:ext cx="11301259" cy="3644656"/>
          </a:xfrm>
          <a:custGeom>
            <a:avLst/>
            <a:gdLst/>
            <a:ahLst/>
            <a:cxnLst/>
            <a:rect r="r" b="b" t="t" l="l"/>
            <a:pathLst>
              <a:path h="3644656" w="11301259">
                <a:moveTo>
                  <a:pt x="0" y="0"/>
                </a:moveTo>
                <a:lnTo>
                  <a:pt x="11301259" y="0"/>
                </a:lnTo>
                <a:lnTo>
                  <a:pt x="11301259" y="3644656"/>
                </a:lnTo>
                <a:lnTo>
                  <a:pt x="0" y="3644656"/>
                </a:lnTo>
                <a:lnTo>
                  <a:pt x="0" y="0"/>
                </a:lnTo>
                <a:close/>
              </a:path>
            </a:pathLst>
          </a:custGeom>
          <a:blipFill>
            <a:blip r:embed="rId2"/>
            <a:stretch>
              <a:fillRect l="0" t="0" r="0" b="0"/>
            </a:stretch>
          </a:blipFill>
        </p:spPr>
      </p:sp>
      <p:sp>
        <p:nvSpPr>
          <p:cNvPr name="TextBox 5" id="5"/>
          <p:cNvSpPr txBox="true"/>
          <p:nvPr/>
        </p:nvSpPr>
        <p:spPr>
          <a:xfrm rot="0">
            <a:off x="683002" y="5639802"/>
            <a:ext cx="691396" cy="492125"/>
          </a:xfrm>
          <a:prstGeom prst="rect">
            <a:avLst/>
          </a:prstGeom>
        </p:spPr>
        <p:txBody>
          <a:bodyPr anchor="t" rtlCol="false" tIns="0" lIns="0" bIns="0" rIns="0">
            <a:spAutoFit/>
          </a:bodyPr>
          <a:lstStyle/>
          <a:p>
            <a:pPr algn="ctr">
              <a:lnSpc>
                <a:spcPts val="4060"/>
              </a:lnSpc>
              <a:spcBef>
                <a:spcPct val="0"/>
              </a:spcBef>
            </a:pPr>
            <a:r>
              <a:rPr lang="en-US" b="true" sz="2800">
                <a:solidFill>
                  <a:srgbClr val="000000"/>
                </a:solidFill>
                <a:latin typeface="Canva Sans Bold"/>
                <a:ea typeface="Canva Sans Bold"/>
                <a:cs typeface="Canva Sans Bold"/>
                <a:sym typeface="Canva Sans Bold"/>
              </a:rPr>
              <a:t>VAE</a:t>
            </a:r>
          </a:p>
        </p:txBody>
      </p:sp>
      <p:sp>
        <p:nvSpPr>
          <p:cNvPr name="Freeform 6" id="6"/>
          <p:cNvSpPr/>
          <p:nvPr/>
        </p:nvSpPr>
        <p:spPr>
          <a:xfrm flipH="false" flipV="false" rot="0">
            <a:off x="933753" y="6436726"/>
            <a:ext cx="11301259" cy="3616403"/>
          </a:xfrm>
          <a:custGeom>
            <a:avLst/>
            <a:gdLst/>
            <a:ahLst/>
            <a:cxnLst/>
            <a:rect r="r" b="b" t="t" l="l"/>
            <a:pathLst>
              <a:path h="3616403" w="11301259">
                <a:moveTo>
                  <a:pt x="0" y="0"/>
                </a:moveTo>
                <a:lnTo>
                  <a:pt x="11301259" y="0"/>
                </a:lnTo>
                <a:lnTo>
                  <a:pt x="11301259" y="3616403"/>
                </a:lnTo>
                <a:lnTo>
                  <a:pt x="0" y="3616403"/>
                </a:lnTo>
                <a:lnTo>
                  <a:pt x="0" y="0"/>
                </a:lnTo>
                <a:close/>
              </a:path>
            </a:pathLst>
          </a:custGeom>
          <a:blipFill>
            <a:blip r:embed="rId3"/>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p:cSld>
    <p:bg>
      <p:bgPr>
        <a:solidFill>
          <a:srgbClr val="F6E7DA"/>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2266752" y="1965531"/>
          <a:ext cx="12223789" cy="7810500"/>
        </p:xfrm>
        <a:graphic>
          <a:graphicData uri="http://schemas.openxmlformats.org/drawingml/2006/table">
            <a:tbl>
              <a:tblPr/>
              <a:tblGrid>
                <a:gridCol w="3436829"/>
                <a:gridCol w="4367894"/>
                <a:gridCol w="4419065"/>
              </a:tblGrid>
              <a:tr h="1005028">
                <a:tc>
                  <a:txBody>
                    <a:bodyPr anchor="t" rtlCol="false"/>
                    <a:lstStyle/>
                    <a:p>
                      <a:pPr algn="ctr">
                        <a:lnSpc>
                          <a:spcPts val="4619"/>
                        </a:lnSpc>
                        <a:defRPr/>
                      </a:pPr>
                      <a:r>
                        <a:rPr lang="en-US" sz="3299" b="true">
                          <a:solidFill>
                            <a:srgbClr val="000000"/>
                          </a:solidFill>
                          <a:latin typeface="Aileron Bold"/>
                          <a:ea typeface="Aileron Bold"/>
                          <a:cs typeface="Aileron Bold"/>
                          <a:sym typeface="Aileron Bold"/>
                        </a:rPr>
                        <a:t>Epochs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619"/>
                        </a:lnSpc>
                        <a:defRPr/>
                      </a:pPr>
                      <a:r>
                        <a:rPr lang="en-US" sz="3299" b="true">
                          <a:solidFill>
                            <a:srgbClr val="000000"/>
                          </a:solidFill>
                          <a:latin typeface="Aileron Bold"/>
                          <a:ea typeface="Aileron Bold"/>
                          <a:cs typeface="Aileron Bold"/>
                          <a:sym typeface="Aileron Bold"/>
                        </a:rPr>
                        <a:t>VAE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619"/>
                        </a:lnSpc>
                        <a:defRPr/>
                      </a:pPr>
                      <a:r>
                        <a:rPr lang="en-US" sz="3299" b="true">
                          <a:solidFill>
                            <a:srgbClr val="000000"/>
                          </a:solidFill>
                          <a:latin typeface="Aileron Bold"/>
                          <a:ea typeface="Aileron Bold"/>
                          <a:cs typeface="Aileron Bold"/>
                          <a:sym typeface="Aileron Bold"/>
                        </a:rPr>
                        <a:t>EVAE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268491">
                <a:tc>
                  <a:txBody>
                    <a:bodyPr anchor="t" rtlCol="false"/>
                    <a:lstStyle/>
                    <a:p>
                      <a:pPr algn="ctr">
                        <a:lnSpc>
                          <a:spcPts val="4619"/>
                        </a:lnSpc>
                        <a:defRPr/>
                      </a:pPr>
                      <a:r>
                        <a:rPr lang="en-US" sz="3299">
                          <a:solidFill>
                            <a:srgbClr val="000000"/>
                          </a:solidFill>
                          <a:latin typeface="Aileron"/>
                          <a:ea typeface="Aileron"/>
                          <a:cs typeface="Aileron"/>
                          <a:sym typeface="Aileron"/>
                        </a:rPr>
                        <a:t>10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619"/>
                        </a:lnSpc>
                        <a:defRPr/>
                      </a:pPr>
                      <a:r>
                        <a:rPr lang="en-US" sz="3299">
                          <a:solidFill>
                            <a:srgbClr val="000000"/>
                          </a:solidFill>
                          <a:latin typeface="Aileron"/>
                          <a:ea typeface="Aileron"/>
                          <a:cs typeface="Aileron"/>
                          <a:sym typeface="Aileron"/>
                        </a:rPr>
                        <a:t>FID : 100.54</a:t>
                      </a:r>
                      <a:endParaRPr lang="en-US" sz="1100"/>
                    </a:p>
                    <a:p>
                      <a:pPr algn="ctr">
                        <a:lnSpc>
                          <a:spcPts val="4619"/>
                        </a:lnSpc>
                      </a:pPr>
                      <a:r>
                        <a:rPr lang="en-US" sz="3299">
                          <a:solidFill>
                            <a:srgbClr val="000000"/>
                          </a:solidFill>
                          <a:latin typeface="Aileron"/>
                          <a:ea typeface="Aileron"/>
                          <a:cs typeface="Aileron"/>
                          <a:sym typeface="Aileron"/>
                        </a:rPr>
                        <a:t>Sharpness : 0.07495</a:t>
                      </a:r>
                    </a:p>
                    <a:p>
                      <a:pPr algn="ctr">
                        <a:lnSpc>
                          <a:spcPts val="4619"/>
                        </a:lnSpc>
                      </a:pPr>
                      <a:r>
                        <a:rPr lang="en-US" sz="3299">
                          <a:solidFill>
                            <a:srgbClr val="000000"/>
                          </a:solidFill>
                          <a:latin typeface="Aileron"/>
                          <a:ea typeface="Aileron"/>
                          <a:cs typeface="Aileron"/>
                          <a:sym typeface="Aileron"/>
                        </a:rPr>
                        <a:t>Avg Loss : 340.2633</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620"/>
                        </a:lnSpc>
                        <a:defRPr/>
                      </a:pPr>
                      <a:r>
                        <a:rPr lang="en-US" sz="3300">
                          <a:solidFill>
                            <a:srgbClr val="000000"/>
                          </a:solidFill>
                          <a:latin typeface="Arimo"/>
                          <a:ea typeface="Arimo"/>
                          <a:cs typeface="Arimo"/>
                          <a:sym typeface="Arimo"/>
                        </a:rPr>
                        <a:t>FID : 91.51</a:t>
                      </a:r>
                      <a:endParaRPr lang="en-US" sz="1100"/>
                    </a:p>
                    <a:p>
                      <a:pPr algn="ctr">
                        <a:lnSpc>
                          <a:spcPts val="4620"/>
                        </a:lnSpc>
                      </a:pPr>
                      <a:r>
                        <a:rPr lang="en-US" sz="3300">
                          <a:solidFill>
                            <a:srgbClr val="000000"/>
                          </a:solidFill>
                          <a:latin typeface="Arimo"/>
                          <a:ea typeface="Arimo"/>
                          <a:cs typeface="Arimo"/>
                          <a:sym typeface="Arimo"/>
                        </a:rPr>
                        <a:t>Sharpness : 0.07828</a:t>
                      </a:r>
                    </a:p>
                    <a:p>
                      <a:pPr algn="ctr">
                        <a:lnSpc>
                          <a:spcPts val="4620"/>
                        </a:lnSpc>
                      </a:pPr>
                      <a:r>
                        <a:rPr lang="en-US" sz="3300">
                          <a:solidFill>
                            <a:srgbClr val="000000"/>
                          </a:solidFill>
                          <a:latin typeface="Arimo"/>
                          <a:ea typeface="Arimo"/>
                          <a:cs typeface="Arimo"/>
                          <a:sym typeface="Arimo"/>
                        </a:rPr>
                        <a:t>Avg Loss : 319.5354</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268491">
                <a:tc>
                  <a:txBody>
                    <a:bodyPr anchor="t" rtlCol="false"/>
                    <a:lstStyle/>
                    <a:p>
                      <a:pPr algn="ctr">
                        <a:lnSpc>
                          <a:spcPts val="4620"/>
                        </a:lnSpc>
                        <a:defRPr/>
                      </a:pPr>
                      <a:r>
                        <a:rPr lang="en-US" sz="3300">
                          <a:solidFill>
                            <a:srgbClr val="000000"/>
                          </a:solidFill>
                          <a:latin typeface="Aileron"/>
                          <a:ea typeface="Aileron"/>
                          <a:cs typeface="Aileron"/>
                          <a:sym typeface="Aileron"/>
                        </a:rPr>
                        <a:t>25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619"/>
                        </a:lnSpc>
                        <a:defRPr/>
                      </a:pPr>
                      <a:r>
                        <a:rPr lang="en-US" sz="3299">
                          <a:solidFill>
                            <a:srgbClr val="000000"/>
                          </a:solidFill>
                          <a:latin typeface="Arimo"/>
                          <a:ea typeface="Arimo"/>
                          <a:cs typeface="Arimo"/>
                          <a:sym typeface="Arimo"/>
                        </a:rPr>
                        <a:t>FID : 85.62</a:t>
                      </a:r>
                      <a:endParaRPr lang="en-US" sz="1100"/>
                    </a:p>
                    <a:p>
                      <a:pPr algn="ctr">
                        <a:lnSpc>
                          <a:spcPts val="4619"/>
                        </a:lnSpc>
                      </a:pPr>
                      <a:r>
                        <a:rPr lang="en-US" sz="3299">
                          <a:solidFill>
                            <a:srgbClr val="000000"/>
                          </a:solidFill>
                          <a:latin typeface="Arimo"/>
                          <a:ea typeface="Arimo"/>
                          <a:cs typeface="Arimo"/>
                          <a:sym typeface="Arimo"/>
                        </a:rPr>
                        <a:t>Sharpness : 0.07884</a:t>
                      </a:r>
                    </a:p>
                    <a:p>
                      <a:pPr algn="ctr">
                        <a:lnSpc>
                          <a:spcPts val="4619"/>
                        </a:lnSpc>
                      </a:pPr>
                      <a:r>
                        <a:rPr lang="en-US" sz="3299">
                          <a:solidFill>
                            <a:srgbClr val="000000"/>
                          </a:solidFill>
                          <a:latin typeface="Arimo"/>
                          <a:ea typeface="Arimo"/>
                          <a:cs typeface="Arimo"/>
                          <a:sym typeface="Arimo"/>
                        </a:rPr>
                        <a:t>Avg Loss : 327.2664</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620"/>
                        </a:lnSpc>
                        <a:defRPr/>
                      </a:pPr>
                      <a:r>
                        <a:rPr lang="en-US" sz="3300">
                          <a:solidFill>
                            <a:srgbClr val="000000"/>
                          </a:solidFill>
                          <a:latin typeface="Arimo"/>
                          <a:ea typeface="Arimo"/>
                          <a:cs typeface="Arimo"/>
                          <a:sym typeface="Arimo"/>
                        </a:rPr>
                        <a:t>FID : 80.13</a:t>
                      </a:r>
                      <a:endParaRPr lang="en-US" sz="1100"/>
                    </a:p>
                    <a:p>
                      <a:pPr algn="ctr">
                        <a:lnSpc>
                          <a:spcPts val="4620"/>
                        </a:lnSpc>
                      </a:pPr>
                      <a:r>
                        <a:rPr lang="en-US" sz="3300">
                          <a:solidFill>
                            <a:srgbClr val="000000"/>
                          </a:solidFill>
                          <a:latin typeface="Arimo"/>
                          <a:ea typeface="Arimo"/>
                          <a:cs typeface="Arimo"/>
                          <a:sym typeface="Arimo"/>
                        </a:rPr>
                        <a:t>Sharpness : 0.08170</a:t>
                      </a:r>
                    </a:p>
                    <a:p>
                      <a:pPr algn="ctr">
                        <a:lnSpc>
                          <a:spcPts val="4620"/>
                        </a:lnSpc>
                      </a:pPr>
                      <a:r>
                        <a:rPr lang="en-US" sz="3300">
                          <a:solidFill>
                            <a:srgbClr val="000000"/>
                          </a:solidFill>
                          <a:latin typeface="Arimo"/>
                          <a:ea typeface="Arimo"/>
                          <a:cs typeface="Arimo"/>
                          <a:sym typeface="Arimo"/>
                        </a:rPr>
                        <a:t>Avg Loss : 303.8552</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268491">
                <a:tc>
                  <a:txBody>
                    <a:bodyPr anchor="t" rtlCol="false"/>
                    <a:lstStyle/>
                    <a:p>
                      <a:pPr algn="ctr">
                        <a:lnSpc>
                          <a:spcPts val="4620"/>
                        </a:lnSpc>
                        <a:defRPr/>
                      </a:pPr>
                      <a:r>
                        <a:rPr lang="en-US" sz="3300">
                          <a:solidFill>
                            <a:srgbClr val="000000"/>
                          </a:solidFill>
                          <a:latin typeface="Aileron"/>
                          <a:ea typeface="Aileron"/>
                          <a:cs typeface="Aileron"/>
                          <a:sym typeface="Aileron"/>
                        </a:rPr>
                        <a:t>50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620"/>
                        </a:lnSpc>
                        <a:defRPr/>
                      </a:pPr>
                      <a:r>
                        <a:rPr lang="en-US" sz="3300">
                          <a:solidFill>
                            <a:srgbClr val="000000"/>
                          </a:solidFill>
                          <a:latin typeface="Arimo"/>
                          <a:ea typeface="Arimo"/>
                          <a:cs typeface="Arimo"/>
                          <a:sym typeface="Arimo"/>
                        </a:rPr>
                        <a:t>FID : 83.89</a:t>
                      </a:r>
                      <a:endParaRPr lang="en-US" sz="1100"/>
                    </a:p>
                    <a:p>
                      <a:pPr algn="ctr">
                        <a:lnSpc>
                          <a:spcPts val="4620"/>
                        </a:lnSpc>
                      </a:pPr>
                      <a:r>
                        <a:rPr lang="en-US" sz="3300">
                          <a:solidFill>
                            <a:srgbClr val="000000"/>
                          </a:solidFill>
                          <a:latin typeface="Arimo"/>
                          <a:ea typeface="Arimo"/>
                          <a:cs typeface="Arimo"/>
                          <a:sym typeface="Arimo"/>
                        </a:rPr>
                        <a:t>Sharpness : 0.07878</a:t>
                      </a:r>
                    </a:p>
                    <a:p>
                      <a:pPr algn="ctr">
                        <a:lnSpc>
                          <a:spcPts val="4620"/>
                        </a:lnSpc>
                      </a:pPr>
                      <a:r>
                        <a:rPr lang="en-US" sz="3300">
                          <a:solidFill>
                            <a:srgbClr val="000000"/>
                          </a:solidFill>
                          <a:latin typeface="Arimo"/>
                          <a:ea typeface="Arimo"/>
                          <a:cs typeface="Arimo"/>
                          <a:sym typeface="Arimo"/>
                        </a:rPr>
                        <a:t>Avg Loss : 325.1949</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620"/>
                        </a:lnSpc>
                        <a:defRPr/>
                      </a:pPr>
                      <a:r>
                        <a:rPr lang="en-US" sz="3300">
                          <a:solidFill>
                            <a:srgbClr val="000000"/>
                          </a:solidFill>
                          <a:latin typeface="Arimo"/>
                          <a:ea typeface="Arimo"/>
                          <a:cs typeface="Arimo"/>
                          <a:sym typeface="Arimo"/>
                        </a:rPr>
                        <a:t>FID : 72.89</a:t>
                      </a:r>
                      <a:endParaRPr lang="en-US" sz="1100"/>
                    </a:p>
                    <a:p>
                      <a:pPr algn="ctr">
                        <a:lnSpc>
                          <a:spcPts val="4620"/>
                        </a:lnSpc>
                      </a:pPr>
                      <a:r>
                        <a:rPr lang="en-US" sz="3300">
                          <a:solidFill>
                            <a:srgbClr val="000000"/>
                          </a:solidFill>
                          <a:latin typeface="Arimo"/>
                          <a:ea typeface="Arimo"/>
                          <a:cs typeface="Arimo"/>
                          <a:sym typeface="Arimo"/>
                        </a:rPr>
                        <a:t>Sharpness : 0.08128</a:t>
                      </a:r>
                    </a:p>
                    <a:p>
                      <a:pPr algn="ctr">
                        <a:lnSpc>
                          <a:spcPts val="4620"/>
                        </a:lnSpc>
                      </a:pPr>
                      <a:r>
                        <a:rPr lang="en-US" sz="3300">
                          <a:solidFill>
                            <a:srgbClr val="000000"/>
                          </a:solidFill>
                          <a:latin typeface="Arimo"/>
                          <a:ea typeface="Arimo"/>
                          <a:cs typeface="Arimo"/>
                          <a:sym typeface="Arimo"/>
                        </a:rPr>
                        <a:t>Avg Loss : 300.2535</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1746552" y="414019"/>
            <a:ext cx="8266986" cy="1033781"/>
          </a:xfrm>
          <a:prstGeom prst="rect">
            <a:avLst/>
          </a:prstGeom>
        </p:spPr>
        <p:txBody>
          <a:bodyPr anchor="t" rtlCol="false" tIns="0" lIns="0" bIns="0" rIns="0">
            <a:spAutoFit/>
          </a:bodyPr>
          <a:lstStyle/>
          <a:p>
            <a:pPr algn="ctr">
              <a:lnSpc>
                <a:spcPts val="7700"/>
              </a:lnSpc>
              <a:spcBef>
                <a:spcPct val="0"/>
              </a:spcBef>
            </a:pPr>
            <a:r>
              <a:rPr lang="en-US" sz="7700" spc="200">
                <a:solidFill>
                  <a:srgbClr val="000000"/>
                </a:solidFill>
                <a:latin typeface="Londrina Solid"/>
                <a:ea typeface="Londrina Solid"/>
                <a:cs typeface="Londrina Solid"/>
                <a:sym typeface="Londrina Solid"/>
              </a:rPr>
              <a:t>RESULTS Comparison</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A65757"/>
        </a:solidFill>
      </p:bgPr>
    </p:bg>
    <p:spTree>
      <p:nvGrpSpPr>
        <p:cNvPr id="1" name=""/>
        <p:cNvGrpSpPr/>
        <p:nvPr/>
      </p:nvGrpSpPr>
      <p:grpSpPr>
        <a:xfrm>
          <a:off x="0" y="0"/>
          <a:ext cx="0" cy="0"/>
          <a:chOff x="0" y="0"/>
          <a:chExt cx="0" cy="0"/>
        </a:xfrm>
      </p:grpSpPr>
      <p:grpSp>
        <p:nvGrpSpPr>
          <p:cNvPr name="Group 2" id="2"/>
          <p:cNvGrpSpPr/>
          <p:nvPr/>
        </p:nvGrpSpPr>
        <p:grpSpPr>
          <a:xfrm rot="0">
            <a:off x="1028700" y="824012"/>
            <a:ext cx="16230600" cy="8638977"/>
            <a:chOff x="0" y="0"/>
            <a:chExt cx="21640800" cy="11518636"/>
          </a:xfrm>
        </p:grpSpPr>
        <p:sp>
          <p:nvSpPr>
            <p:cNvPr name="Freeform 3" id="3"/>
            <p:cNvSpPr/>
            <p:nvPr/>
          </p:nvSpPr>
          <p:spPr>
            <a:xfrm flipH="false" flipV="false" rot="0">
              <a:off x="0" y="0"/>
              <a:ext cx="21640800" cy="9679340"/>
            </a:xfrm>
            <a:custGeom>
              <a:avLst/>
              <a:gdLst/>
              <a:ahLst/>
              <a:cxnLst/>
              <a:rect r="r" b="b" t="t" l="l"/>
              <a:pathLst>
                <a:path h="9679340" w="21640800">
                  <a:moveTo>
                    <a:pt x="0" y="0"/>
                  </a:moveTo>
                  <a:lnTo>
                    <a:pt x="21640800" y="0"/>
                  </a:lnTo>
                  <a:lnTo>
                    <a:pt x="21640800" y="9679340"/>
                  </a:lnTo>
                  <a:lnTo>
                    <a:pt x="0" y="9679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1839296"/>
              <a:ext cx="21640800" cy="9679340"/>
            </a:xfrm>
            <a:custGeom>
              <a:avLst/>
              <a:gdLst/>
              <a:ahLst/>
              <a:cxnLst/>
              <a:rect r="r" b="b" t="t" l="l"/>
              <a:pathLst>
                <a:path h="9679340" w="21640800">
                  <a:moveTo>
                    <a:pt x="0" y="0"/>
                  </a:moveTo>
                  <a:lnTo>
                    <a:pt x="21640800" y="0"/>
                  </a:lnTo>
                  <a:lnTo>
                    <a:pt x="21640800" y="9679340"/>
                  </a:lnTo>
                  <a:lnTo>
                    <a:pt x="0" y="9679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662352">
            <a:off x="12592873" y="4281506"/>
            <a:ext cx="3144219" cy="4097916"/>
          </a:xfrm>
          <a:custGeom>
            <a:avLst/>
            <a:gdLst/>
            <a:ahLst/>
            <a:cxnLst/>
            <a:rect r="r" b="b" t="t" l="l"/>
            <a:pathLst>
              <a:path h="4097916" w="3144219">
                <a:moveTo>
                  <a:pt x="0" y="0"/>
                </a:moveTo>
                <a:lnTo>
                  <a:pt x="3144220" y="0"/>
                </a:lnTo>
                <a:lnTo>
                  <a:pt x="3144220" y="4097916"/>
                </a:lnTo>
                <a:lnTo>
                  <a:pt x="0" y="40979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603774" y="2030968"/>
            <a:ext cx="8774424" cy="1691781"/>
          </a:xfrm>
          <a:prstGeom prst="rect">
            <a:avLst/>
          </a:prstGeom>
        </p:spPr>
        <p:txBody>
          <a:bodyPr anchor="t" rtlCol="false" tIns="0" lIns="0" bIns="0" rIns="0">
            <a:spAutoFit/>
          </a:bodyPr>
          <a:lstStyle/>
          <a:p>
            <a:pPr algn="l">
              <a:lnSpc>
                <a:spcPts val="12605"/>
              </a:lnSpc>
            </a:pPr>
            <a:r>
              <a:rPr lang="en-US" sz="12605" spc="327">
                <a:solidFill>
                  <a:srgbClr val="104950"/>
                </a:solidFill>
                <a:latin typeface="Londrina Solid"/>
                <a:ea typeface="Londrina Solid"/>
                <a:cs typeface="Londrina Solid"/>
                <a:sym typeface="Londrina Solid"/>
              </a:rPr>
              <a:t>Instructions</a:t>
            </a:r>
          </a:p>
        </p:txBody>
      </p:sp>
      <p:sp>
        <p:nvSpPr>
          <p:cNvPr name="TextBox 7" id="7"/>
          <p:cNvSpPr txBox="true"/>
          <p:nvPr/>
        </p:nvSpPr>
        <p:spPr>
          <a:xfrm rot="0">
            <a:off x="2603774" y="4333132"/>
            <a:ext cx="7612690" cy="3508375"/>
          </a:xfrm>
          <a:prstGeom prst="rect">
            <a:avLst/>
          </a:prstGeom>
        </p:spPr>
        <p:txBody>
          <a:bodyPr anchor="t" rtlCol="false" tIns="0" lIns="0" bIns="0" rIns="0">
            <a:spAutoFit/>
          </a:bodyPr>
          <a:lstStyle/>
          <a:p>
            <a:pPr algn="l">
              <a:lnSpc>
                <a:spcPts val="5599"/>
              </a:lnSpc>
            </a:pPr>
            <a:r>
              <a:rPr lang="en-US" sz="3999">
                <a:solidFill>
                  <a:srgbClr val="000000"/>
                </a:solidFill>
                <a:latin typeface="Cloud"/>
                <a:ea typeface="Cloud"/>
                <a:cs typeface="Cloud"/>
                <a:sym typeface="Cloud"/>
              </a:rPr>
              <a:t>This quiz consists of 10 multiple-choice questions. Write your answers on your mini-whiteboard and raise it when your teacher instructs you to do so.</a:t>
            </a:r>
          </a:p>
        </p:txBody>
      </p:sp>
      <p:sp>
        <p:nvSpPr>
          <p:cNvPr name="Freeform 8" id="8"/>
          <p:cNvSpPr/>
          <p:nvPr/>
        </p:nvSpPr>
        <p:spPr>
          <a:xfrm flipH="false" flipV="false" rot="-657136">
            <a:off x="15524007" y="2861521"/>
            <a:ext cx="1152663" cy="1156870"/>
          </a:xfrm>
          <a:custGeom>
            <a:avLst/>
            <a:gdLst/>
            <a:ahLst/>
            <a:cxnLst/>
            <a:rect r="r" b="b" t="t" l="l"/>
            <a:pathLst>
              <a:path h="1156870" w="1152663">
                <a:moveTo>
                  <a:pt x="0" y="0"/>
                </a:moveTo>
                <a:lnTo>
                  <a:pt x="1152663" y="0"/>
                </a:lnTo>
                <a:lnTo>
                  <a:pt x="1152663" y="1156869"/>
                </a:lnTo>
                <a:lnTo>
                  <a:pt x="0" y="11568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306013">
            <a:off x="10269148" y="7344526"/>
            <a:ext cx="1294711" cy="1242923"/>
          </a:xfrm>
          <a:custGeom>
            <a:avLst/>
            <a:gdLst/>
            <a:ahLst/>
            <a:cxnLst/>
            <a:rect r="r" b="b" t="t" l="l"/>
            <a:pathLst>
              <a:path h="1242923" w="1294711">
                <a:moveTo>
                  <a:pt x="0" y="0"/>
                </a:moveTo>
                <a:lnTo>
                  <a:pt x="1294711" y="0"/>
                </a:lnTo>
                <a:lnTo>
                  <a:pt x="1294711" y="1242923"/>
                </a:lnTo>
                <a:lnTo>
                  <a:pt x="0" y="124292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0" id="10"/>
          <p:cNvGrpSpPr/>
          <p:nvPr/>
        </p:nvGrpSpPr>
        <p:grpSpPr>
          <a:xfrm rot="0">
            <a:off x="1181100" y="976412"/>
            <a:ext cx="16230600" cy="8638977"/>
            <a:chOff x="0" y="0"/>
            <a:chExt cx="21640800" cy="11518636"/>
          </a:xfrm>
        </p:grpSpPr>
        <p:sp>
          <p:nvSpPr>
            <p:cNvPr name="Freeform 11" id="11"/>
            <p:cNvSpPr/>
            <p:nvPr/>
          </p:nvSpPr>
          <p:spPr>
            <a:xfrm flipH="false" flipV="false" rot="0">
              <a:off x="0" y="0"/>
              <a:ext cx="21640800" cy="9679340"/>
            </a:xfrm>
            <a:custGeom>
              <a:avLst/>
              <a:gdLst/>
              <a:ahLst/>
              <a:cxnLst/>
              <a:rect r="r" b="b" t="t" l="l"/>
              <a:pathLst>
                <a:path h="9679340" w="21640800">
                  <a:moveTo>
                    <a:pt x="0" y="0"/>
                  </a:moveTo>
                  <a:lnTo>
                    <a:pt x="21640800" y="0"/>
                  </a:lnTo>
                  <a:lnTo>
                    <a:pt x="21640800" y="9679340"/>
                  </a:lnTo>
                  <a:lnTo>
                    <a:pt x="0" y="9679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0" y="1839296"/>
              <a:ext cx="21640800" cy="9679340"/>
            </a:xfrm>
            <a:custGeom>
              <a:avLst/>
              <a:gdLst/>
              <a:ahLst/>
              <a:cxnLst/>
              <a:rect r="r" b="b" t="t" l="l"/>
              <a:pathLst>
                <a:path h="9679340" w="21640800">
                  <a:moveTo>
                    <a:pt x="0" y="0"/>
                  </a:moveTo>
                  <a:lnTo>
                    <a:pt x="21640800" y="0"/>
                  </a:lnTo>
                  <a:lnTo>
                    <a:pt x="21640800" y="9679340"/>
                  </a:lnTo>
                  <a:lnTo>
                    <a:pt x="0" y="9679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13" id="13"/>
          <p:cNvSpPr/>
          <p:nvPr/>
        </p:nvSpPr>
        <p:spPr>
          <a:xfrm flipH="false" flipV="false" rot="0">
            <a:off x="8128326" y="6624570"/>
            <a:ext cx="2017967" cy="2017967"/>
          </a:xfrm>
          <a:custGeom>
            <a:avLst/>
            <a:gdLst/>
            <a:ahLst/>
            <a:cxnLst/>
            <a:rect r="r" b="b" t="t" l="l"/>
            <a:pathLst>
              <a:path h="2017967" w="2017967">
                <a:moveTo>
                  <a:pt x="0" y="0"/>
                </a:moveTo>
                <a:lnTo>
                  <a:pt x="2017968" y="0"/>
                </a:lnTo>
                <a:lnTo>
                  <a:pt x="2017968" y="2017967"/>
                </a:lnTo>
                <a:lnTo>
                  <a:pt x="0" y="201796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4828612" y="6635594"/>
            <a:ext cx="1995919" cy="1995919"/>
          </a:xfrm>
          <a:custGeom>
            <a:avLst/>
            <a:gdLst/>
            <a:ahLst/>
            <a:cxnLst/>
            <a:rect r="r" b="b" t="t" l="l"/>
            <a:pathLst>
              <a:path h="1995919" w="1995919">
                <a:moveTo>
                  <a:pt x="0" y="0"/>
                </a:moveTo>
                <a:lnTo>
                  <a:pt x="1995920" y="0"/>
                </a:lnTo>
                <a:lnTo>
                  <a:pt x="1995920" y="1995919"/>
                </a:lnTo>
                <a:lnTo>
                  <a:pt x="0" y="199591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11450088" y="6628904"/>
            <a:ext cx="2009299" cy="2009299"/>
          </a:xfrm>
          <a:custGeom>
            <a:avLst/>
            <a:gdLst/>
            <a:ahLst/>
            <a:cxnLst/>
            <a:rect r="r" b="b" t="t" l="l"/>
            <a:pathLst>
              <a:path h="2009299" w="2009299">
                <a:moveTo>
                  <a:pt x="0" y="0"/>
                </a:moveTo>
                <a:lnTo>
                  <a:pt x="2009300" y="0"/>
                </a:lnTo>
                <a:lnTo>
                  <a:pt x="2009300" y="2009299"/>
                </a:lnTo>
                <a:lnTo>
                  <a:pt x="0" y="200929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6" id="16"/>
          <p:cNvSpPr txBox="true"/>
          <p:nvPr/>
        </p:nvSpPr>
        <p:spPr>
          <a:xfrm rot="0">
            <a:off x="4695225" y="2554882"/>
            <a:ext cx="9202349" cy="1863975"/>
          </a:xfrm>
          <a:prstGeom prst="rect">
            <a:avLst/>
          </a:prstGeom>
        </p:spPr>
        <p:txBody>
          <a:bodyPr anchor="t" rtlCol="false" tIns="0" lIns="0" bIns="0" rIns="0">
            <a:spAutoFit/>
          </a:bodyPr>
          <a:lstStyle/>
          <a:p>
            <a:pPr algn="ctr">
              <a:lnSpc>
                <a:spcPts val="13923"/>
              </a:lnSpc>
            </a:pPr>
            <a:r>
              <a:rPr lang="en-US" sz="13923" spc="362">
                <a:solidFill>
                  <a:srgbClr val="104950"/>
                </a:solidFill>
                <a:latin typeface="Londrina Solid"/>
                <a:ea typeface="Londrina Solid"/>
                <a:cs typeface="Londrina Solid"/>
                <a:sym typeface="Londrina Solid"/>
              </a:rPr>
              <a:t>Well Done!</a:t>
            </a:r>
          </a:p>
        </p:txBody>
      </p:sp>
      <p:sp>
        <p:nvSpPr>
          <p:cNvPr name="TextBox 17" id="17"/>
          <p:cNvSpPr txBox="true"/>
          <p:nvPr/>
        </p:nvSpPr>
        <p:spPr>
          <a:xfrm rot="0">
            <a:off x="3291844" y="4832350"/>
            <a:ext cx="11704311" cy="1069976"/>
          </a:xfrm>
          <a:prstGeom prst="rect">
            <a:avLst/>
          </a:prstGeom>
        </p:spPr>
        <p:txBody>
          <a:bodyPr anchor="t" rtlCol="false" tIns="0" lIns="0" bIns="0" rIns="0">
            <a:spAutoFit/>
          </a:bodyPr>
          <a:lstStyle/>
          <a:p>
            <a:pPr algn="ctr">
              <a:lnSpc>
                <a:spcPts val="8000"/>
              </a:lnSpc>
            </a:pPr>
            <a:r>
              <a:rPr lang="en-US" sz="8000" spc="208">
                <a:solidFill>
                  <a:srgbClr val="A65757"/>
                </a:solidFill>
                <a:latin typeface="Londrina Solid"/>
                <a:ea typeface="Londrina Solid"/>
                <a:cs typeface="Londrina Solid"/>
                <a:sym typeface="Londrina Solid"/>
              </a:rPr>
              <a:t>Rate your Understanding...</a:t>
            </a:r>
          </a:p>
        </p:txBody>
      </p:sp>
      <p:sp>
        <p:nvSpPr>
          <p:cNvPr name="Freeform 18" id="18"/>
          <p:cNvSpPr/>
          <p:nvPr/>
        </p:nvSpPr>
        <p:spPr>
          <a:xfrm flipH="false" flipV="false" rot="563312">
            <a:off x="383572" y="577453"/>
            <a:ext cx="1595055" cy="1600876"/>
          </a:xfrm>
          <a:custGeom>
            <a:avLst/>
            <a:gdLst/>
            <a:ahLst/>
            <a:cxnLst/>
            <a:rect r="r" b="b" t="t" l="l"/>
            <a:pathLst>
              <a:path h="1600876" w="1595055">
                <a:moveTo>
                  <a:pt x="0" y="0"/>
                </a:moveTo>
                <a:lnTo>
                  <a:pt x="1595056" y="0"/>
                </a:lnTo>
                <a:lnTo>
                  <a:pt x="1595056" y="1600876"/>
                </a:lnTo>
                <a:lnTo>
                  <a:pt x="0" y="160087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9" id="19"/>
          <p:cNvSpPr/>
          <p:nvPr/>
        </p:nvSpPr>
        <p:spPr>
          <a:xfrm flipH="false" flipV="false" rot="-559638">
            <a:off x="2430569" y="1469630"/>
            <a:ext cx="1228245" cy="1179115"/>
          </a:xfrm>
          <a:custGeom>
            <a:avLst/>
            <a:gdLst/>
            <a:ahLst/>
            <a:cxnLst/>
            <a:rect r="r" b="b" t="t" l="l"/>
            <a:pathLst>
              <a:path h="1179115" w="1228245">
                <a:moveTo>
                  <a:pt x="0" y="0"/>
                </a:moveTo>
                <a:lnTo>
                  <a:pt x="1228245" y="0"/>
                </a:lnTo>
                <a:lnTo>
                  <a:pt x="1228245" y="1179115"/>
                </a:lnTo>
                <a:lnTo>
                  <a:pt x="0" y="117911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0" id="20"/>
          <p:cNvSpPr/>
          <p:nvPr/>
        </p:nvSpPr>
        <p:spPr>
          <a:xfrm flipH="false" flipV="false" rot="533658">
            <a:off x="14970334" y="5965833"/>
            <a:ext cx="2878307" cy="3751348"/>
          </a:xfrm>
          <a:custGeom>
            <a:avLst/>
            <a:gdLst/>
            <a:ahLst/>
            <a:cxnLst/>
            <a:rect r="r" b="b" t="t" l="l"/>
            <a:pathLst>
              <a:path h="3751348" w="2878307">
                <a:moveTo>
                  <a:pt x="0" y="0"/>
                </a:moveTo>
                <a:lnTo>
                  <a:pt x="2878308" y="0"/>
                </a:lnTo>
                <a:lnTo>
                  <a:pt x="2878308" y="3751348"/>
                </a:lnTo>
                <a:lnTo>
                  <a:pt x="0" y="37513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DAG--Z48Q0M</dc:identifier>
  <dcterms:modified xsi:type="dcterms:W3CDTF">2011-08-01T06:04:30Z</dcterms:modified>
  <cp:revision>1</cp:revision>
  <dc:title>Add a little bit of body text</dc:title>
</cp:coreProperties>
</file>